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86" r:id="rId1"/>
    <p:sldMasterId id="2147483660" r:id="rId2"/>
  </p:sldMasterIdLst>
  <p:notesMasterIdLst>
    <p:notesMasterId r:id="rId5"/>
  </p:notesMasterIdLst>
  <p:sldIdLst>
    <p:sldId id="261" r:id="rId3"/>
    <p:sldId id="328" r:id="rId4"/>
    <p:sldId id="329" r:id="rId11"/>
    <p:sldId id="330" r:id="rId12"/>
    <p:sldId id="331" r:id="rId13"/>
    <p:sldId id="332" r:id="rId14"/>
    <p:sldId id="333" r:id="rId15"/>
    <p:sldId id="334" r:id="rId16"/>
    <p:sldId id="335" r:id="rId17"/>
    <p:sldId id="336" r:id="rId18"/>
    <p:sldId id="337" r:id="rId19"/>
    <p:sldId id="338" r:id="rId20"/>
    <p:sldId id="339" r:id="rId21"/>
    <p:sldId id="340" r:id="rId22"/>
    <p:sldId id="341" r:id="rId23"/>
    <p:sldId id="342" r:id="rId24"/>
    <p:sldId id="343" r:id="rId25"/>
    <p:sldId id="344"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FFA8D5F-86FC-FF78-68DF-296C943650AC}" v="36" dt="2025-11-12T09:10:22.48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2" d="100"/>
          <a:sy n="82" d="100"/>
        </p:scale>
        <p:origin x="490" y="48"/>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1.xml"/><Relationship Id="rId7"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tableStyles" Target="tableStyles.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18.xml"/></Relationships>
</file>

<file path=ppt/notesMasters/_rels/notesMaster1.xml.rels><?xml version="1.0" encoding="UTF-8"?><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8684B3B-E091-4218-B734-7F09C964D9E9}" type="datetimeFigureOut">
              <a:rPr lang="en-IN" smtClean="0"/>
              <a:t>11-05-2026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3A2D287-CFE8-45F7-B578-1940EAB6BD47}" type="slidenum">
              <a:rPr lang="en-IN" smtClean="0"/>
              <a:t>‹#›</a:t>
            </a:fld>
            <a:endParaRPr lang="en-IN"/>
          </a:p>
        </p:txBody>
      </p:sp>
    </p:spTree>
    <p:extLst>
      <p:ext uri="{BB962C8B-B14F-4D97-AF65-F5344CB8AC3E}">
        <p14:creationId xmlns:p14="http://schemas.microsoft.com/office/powerpoint/2010/main" val="14521163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3D8E5E-745C-407D-B425-C78EBF08DF96}"/>
              </a:ext>
            </a:extLst>
          </p:cNvPr>
          <p:cNvSpPr>
            <a:spLocks noGrp="1"/>
          </p:cNvSpPr>
          <p:nvPr>
            <p:ph type="ctrTitle"/>
          </p:nvPr>
        </p:nvSpPr>
        <p:spPr>
          <a:xfrm>
            <a:off x="571501" y="822960"/>
            <a:ext cx="6057899" cy="5015169"/>
          </a:xfrm>
        </p:spPr>
        <p:txBody>
          <a:bodyPr anchor="t">
            <a:normAutofit/>
          </a:bodyPr>
          <a:lstStyle>
            <a:lvl1pPr algn="l">
              <a:defRPr sz="48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FD07A4D5-56F4-4287-B174-56C55B18FD68}"/>
              </a:ext>
            </a:extLst>
          </p:cNvPr>
          <p:cNvSpPr>
            <a:spLocks noGrp="1"/>
          </p:cNvSpPr>
          <p:nvPr>
            <p:ph type="subTitle" idx="1"/>
          </p:nvPr>
        </p:nvSpPr>
        <p:spPr>
          <a:xfrm>
            <a:off x="8109113" y="3003642"/>
            <a:ext cx="3522199" cy="2900274"/>
          </a:xfrm>
        </p:spPr>
        <p:txBody>
          <a:bodyPr anchor="b">
            <a:normAutofit/>
          </a:bodyPr>
          <a:lstStyle>
            <a:lvl1pPr marL="0" indent="0" algn="l">
              <a:lnSpc>
                <a:spcPct val="130000"/>
              </a:lnSpc>
              <a:buNone/>
              <a:defRPr sz="1400" cap="all" spc="300"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DAEB9C19-FEE0-4852-B181-14A0DD77F40D}"/>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1127DDF-01B7-463C-82BC-BBF4296182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AB2056A-C3EE-4809-B1F3-1CEEEA266F7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9" name="Straight Connector 8">
            <a:extLst>
              <a:ext uri="{FF2B5EF4-FFF2-40B4-BE49-F238E27FC236}">
                <a16:creationId xmlns:a16="http://schemas.microsoft.com/office/drawing/2014/main" id="{A240FCEE-B6E2-46D0-9BB0-F45F79545E9D}"/>
              </a:ext>
            </a:extLst>
          </p:cNvPr>
          <p:cNvCxnSpPr>
            <a:cxnSpLocks/>
          </p:cNvCxnSpPr>
          <p:nvPr/>
        </p:nvCxnSpPr>
        <p:spPr>
          <a:xfrm flipH="1">
            <a:off x="571501"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BD2FB83-3783-4477-80B5-DA5BF10BAF57}"/>
              </a:ext>
            </a:extLst>
          </p:cNvPr>
          <p:cNvCxnSpPr>
            <a:cxnSpLocks/>
          </p:cNvCxnSpPr>
          <p:nvPr/>
        </p:nvCxnSpPr>
        <p:spPr>
          <a:xfrm>
            <a:off x="7742482"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83EA203-71D5-49C0-9626-FFA8E46787B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2148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B2ED8-7F53-4C03-A740-493E50798497}"/>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5611087-99A9-4100-B5F7-520880DE322E}"/>
              </a:ext>
            </a:extLst>
          </p:cNvPr>
          <p:cNvSpPr>
            <a:spLocks noGrp="1"/>
          </p:cNvSpPr>
          <p:nvPr>
            <p:ph idx="1"/>
          </p:nvPr>
        </p:nvSpPr>
        <p:spPr>
          <a:xfrm>
            <a:off x="571499" y="2075688"/>
            <a:ext cx="11059811" cy="39109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67B4B20-1A65-4A26-B11E-6095083A1645}"/>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FB0D52D3-E985-4FEB-89B9-57C754711C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DEA751A-C72D-47C1-A7A6-E8510A40CE9A}"/>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19626095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81F78-07BF-45A9-92D4-E4E0A1E88D7A}"/>
              </a:ext>
            </a:extLst>
          </p:cNvPr>
          <p:cNvSpPr>
            <a:spLocks noGrp="1"/>
          </p:cNvSpPr>
          <p:nvPr>
            <p:ph type="title"/>
          </p:nvPr>
        </p:nvSpPr>
        <p:spPr>
          <a:xfrm>
            <a:off x="571500" y="914255"/>
            <a:ext cx="6867115" cy="5009471"/>
          </a:xfrm>
        </p:spPr>
        <p:txBody>
          <a:bodyPr anchor="b">
            <a:normAutofit/>
          </a:bodyPr>
          <a:lstStyle>
            <a:lvl1pPr>
              <a:defRPr sz="6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ECC2A83-A380-4828-BC68-C065C8BC5AD5}"/>
              </a:ext>
            </a:extLst>
          </p:cNvPr>
          <p:cNvSpPr>
            <a:spLocks noGrp="1"/>
          </p:cNvSpPr>
          <p:nvPr>
            <p:ph type="body" idx="1"/>
          </p:nvPr>
        </p:nvSpPr>
        <p:spPr>
          <a:xfrm>
            <a:off x="9239817" y="914399"/>
            <a:ext cx="2370268" cy="2670273"/>
          </a:xfrm>
        </p:spPr>
        <p:txBody>
          <a:bodyPr anchor="t">
            <a:normAutofit/>
          </a:bodyPr>
          <a:lstStyle>
            <a:lvl1pPr marL="0" indent="0">
              <a:lnSpc>
                <a:spcPct val="130000"/>
              </a:lnSpc>
              <a:buNone/>
              <a:defRPr sz="1400" cap="all" spc="300" baseline="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FF92B2F-8804-4195-A779-F5C67C25CBBE}"/>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25099C26-4411-4833-A917-A45E62D56A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668C7C7-F862-434D-A87A-DECE9FD2E1E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A40BAA4B-C4C0-40C1-8DC8-B4E2F8A68E12}"/>
              </a:ext>
            </a:extLst>
          </p:cNvPr>
          <p:cNvCxnSpPr>
            <a:cxnSpLocks/>
          </p:cNvCxnSpPr>
          <p:nvPr/>
        </p:nvCxnSpPr>
        <p:spPr>
          <a:xfrm>
            <a:off x="8872625"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C0A2259-2540-4B32-A999-2B46A6790E3D}"/>
              </a:ext>
            </a:extLst>
          </p:cNvPr>
          <p:cNvCxnSpPr>
            <a:cxnSpLocks/>
          </p:cNvCxnSpPr>
          <p:nvPr/>
        </p:nvCxnSpPr>
        <p:spPr>
          <a:xfrm flipH="1">
            <a:off x="566094"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CEFB0ED-3F76-4403-AD0B-E738DD9D8CB6}"/>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462088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6BD5F-CF53-4DD5-B8C5-27BBA2BB8860}"/>
              </a:ext>
            </a:extLst>
          </p:cNvPr>
          <p:cNvSpPr>
            <a:spLocks noGrp="1"/>
          </p:cNvSpPr>
          <p:nvPr>
            <p:ph type="title"/>
          </p:nvPr>
        </p:nvSpPr>
        <p:spPr>
          <a:xfrm>
            <a:off x="571500" y="709684"/>
            <a:ext cx="11049000" cy="1057160"/>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3576C2E1-5D5E-409F-BEE8-F48CE86F55C9}"/>
              </a:ext>
            </a:extLst>
          </p:cNvPr>
          <p:cNvSpPr>
            <a:spLocks noGrp="1"/>
          </p:cNvSpPr>
          <p:nvPr>
            <p:ph sz="half" idx="1"/>
          </p:nvPr>
        </p:nvSpPr>
        <p:spPr>
          <a:xfrm>
            <a:off x="579447"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AFBBF823-1BFB-4CF0-BAF4-D660C8F1AFC0}"/>
              </a:ext>
            </a:extLst>
          </p:cNvPr>
          <p:cNvSpPr>
            <a:spLocks noGrp="1"/>
          </p:cNvSpPr>
          <p:nvPr>
            <p:ph sz="half" idx="2"/>
          </p:nvPr>
        </p:nvSpPr>
        <p:spPr>
          <a:xfrm>
            <a:off x="6447082" y="2074990"/>
            <a:ext cx="5181600" cy="4101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46FF816E-EE02-44A4-8B81-B324ECFD74DF}"/>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F134D9E4-A693-44D2-A3E8-E3AABC9052B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54F669F-4B8E-415D-A9BF-AD451F452C6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720AF959-FCDC-4B92-9324-06A06C0D56F2}"/>
              </a:ext>
            </a:extLst>
          </p:cNvPr>
          <p:cNvCxnSpPr>
            <a:cxnSpLocks/>
          </p:cNvCxnSpPr>
          <p:nvPr/>
        </p:nvCxnSpPr>
        <p:spPr>
          <a:xfrm flipV="1">
            <a:off x="6101405" y="1883336"/>
            <a:ext cx="0" cy="439965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0007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FF85E5-82C4-4BAE-B2B0-A078ABD6C69C}"/>
              </a:ext>
            </a:extLst>
          </p:cNvPr>
          <p:cNvSpPr>
            <a:spLocks noGrp="1"/>
          </p:cNvSpPr>
          <p:nvPr>
            <p:ph type="title"/>
          </p:nvPr>
        </p:nvSpPr>
        <p:spPr>
          <a:xfrm>
            <a:off x="583469" y="699118"/>
            <a:ext cx="11025062" cy="1063601"/>
          </a:xfrm>
        </p:spPr>
        <p:txBody>
          <a:bodyPr anchor="ctr"/>
          <a:lstStyle/>
          <a:p>
            <a:r>
              <a:rPr lang="en-US"/>
              <a:t>Click to edit Master title style</a:t>
            </a:r>
            <a:endParaRPr lang="en-US" dirty="0"/>
          </a:p>
        </p:txBody>
      </p:sp>
      <p:sp>
        <p:nvSpPr>
          <p:cNvPr id="3" name="Text Placeholder 2">
            <a:extLst>
              <a:ext uri="{FF2B5EF4-FFF2-40B4-BE49-F238E27FC236}">
                <a16:creationId xmlns:a16="http://schemas.microsoft.com/office/drawing/2014/main" id="{012D15C7-F445-40F7-88F6-FD6526269CD7}"/>
              </a:ext>
            </a:extLst>
          </p:cNvPr>
          <p:cNvSpPr>
            <a:spLocks noGrp="1"/>
          </p:cNvSpPr>
          <p:nvPr>
            <p:ph type="body" idx="1"/>
          </p:nvPr>
        </p:nvSpPr>
        <p:spPr>
          <a:xfrm>
            <a:off x="583468" y="2022883"/>
            <a:ext cx="5230469" cy="564079"/>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B652C35-AA8E-4154-8A78-7DE9590E1F38}"/>
              </a:ext>
            </a:extLst>
          </p:cNvPr>
          <p:cNvSpPr>
            <a:spLocks noGrp="1"/>
          </p:cNvSpPr>
          <p:nvPr>
            <p:ph sz="half" idx="2"/>
          </p:nvPr>
        </p:nvSpPr>
        <p:spPr>
          <a:xfrm>
            <a:off x="583469" y="2866031"/>
            <a:ext cx="5157787"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557EAC6-567C-4A4A-BB10-57EC14B97DDF}"/>
              </a:ext>
            </a:extLst>
          </p:cNvPr>
          <p:cNvSpPr>
            <a:spLocks noGrp="1"/>
          </p:cNvSpPr>
          <p:nvPr>
            <p:ph type="body" sz="quarter" idx="3"/>
          </p:nvPr>
        </p:nvSpPr>
        <p:spPr>
          <a:xfrm>
            <a:off x="6441470" y="2022883"/>
            <a:ext cx="5183188" cy="564080"/>
          </a:xfrm>
        </p:spPr>
        <p:txBody>
          <a:bodyPr anchor="ctr">
            <a:normAutofit/>
          </a:bodyPr>
          <a:lstStyle>
            <a:lvl1pPr marL="0" indent="0">
              <a:buNone/>
              <a:defRPr sz="1600" b="1" cap="all" spc="3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19A083F-AD60-4437-B32A-44035D78AF63}"/>
              </a:ext>
            </a:extLst>
          </p:cNvPr>
          <p:cNvSpPr>
            <a:spLocks noGrp="1"/>
          </p:cNvSpPr>
          <p:nvPr>
            <p:ph sz="quarter" idx="4"/>
          </p:nvPr>
        </p:nvSpPr>
        <p:spPr>
          <a:xfrm>
            <a:off x="6441470" y="2866031"/>
            <a:ext cx="5183188" cy="3227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9DBF86F-3266-4551-B680-06F401FFE665}"/>
              </a:ext>
            </a:extLst>
          </p:cNvPr>
          <p:cNvSpPr>
            <a:spLocks noGrp="1"/>
          </p:cNvSpPr>
          <p:nvPr>
            <p:ph type="dt" sz="half" idx="10"/>
          </p:nvPr>
        </p:nvSpPr>
        <p:spPr/>
        <p:txBody>
          <a:bodyPr/>
          <a:lstStyle/>
          <a:p>
            <a:endParaRPr lang="en-US"/>
          </a:p>
        </p:txBody>
      </p:sp>
      <p:sp>
        <p:nvSpPr>
          <p:cNvPr id="8" name="Footer Placeholder 7">
            <a:extLst>
              <a:ext uri="{FF2B5EF4-FFF2-40B4-BE49-F238E27FC236}">
                <a16:creationId xmlns:a16="http://schemas.microsoft.com/office/drawing/2014/main" id="{755B38FE-80F9-4582-B2E1-B067C288DE8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7BEF32-F637-47A1-9ED3-AFC4F79F3739}"/>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11" name="Straight Connector 10">
            <a:extLst>
              <a:ext uri="{FF2B5EF4-FFF2-40B4-BE49-F238E27FC236}">
                <a16:creationId xmlns:a16="http://schemas.microsoft.com/office/drawing/2014/main" id="{E0C508D4-7C99-4B8D-BCDE-F0001BD345D9}"/>
              </a:ext>
            </a:extLst>
          </p:cNvPr>
          <p:cNvCxnSpPr>
            <a:cxnSpLocks/>
          </p:cNvCxnSpPr>
          <p:nvPr/>
        </p:nvCxnSpPr>
        <p:spPr>
          <a:xfrm flipV="1">
            <a:off x="6101405" y="1883336"/>
            <a:ext cx="0" cy="439966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449BF61B-7951-48F4-982B-9401A483FFBF}"/>
              </a:ext>
            </a:extLst>
          </p:cNvPr>
          <p:cNvCxnSpPr>
            <a:cxnSpLocks/>
          </p:cNvCxnSpPr>
          <p:nvPr/>
        </p:nvCxnSpPr>
        <p:spPr>
          <a:xfrm flipH="1">
            <a:off x="577485" y="273859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625634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A94CB-6BE5-4B9E-B0A6-54F83B201A64}"/>
              </a:ext>
            </a:extLst>
          </p:cNvPr>
          <p:cNvSpPr>
            <a:spLocks noGrp="1"/>
          </p:cNvSpPr>
          <p:nvPr>
            <p:ph type="title"/>
          </p:nvPr>
        </p:nvSpPr>
        <p:spPr>
          <a:xfrm>
            <a:off x="571500" y="717452"/>
            <a:ext cx="11049000" cy="1161836"/>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75E8643C-1A5D-4F23-B0D7-5B46F5E456B4}"/>
              </a:ext>
            </a:extLst>
          </p:cNvPr>
          <p:cNvSpPr>
            <a:spLocks noGrp="1"/>
          </p:cNvSpPr>
          <p:nvPr>
            <p:ph type="dt" sz="half" idx="10"/>
          </p:nvPr>
        </p:nvSpPr>
        <p:spPr/>
        <p:txBody>
          <a:bodyPr/>
          <a:lstStyle/>
          <a:p>
            <a:endParaRPr lang="en-US"/>
          </a:p>
        </p:txBody>
      </p:sp>
      <p:sp>
        <p:nvSpPr>
          <p:cNvPr id="4" name="Footer Placeholder 3">
            <a:extLst>
              <a:ext uri="{FF2B5EF4-FFF2-40B4-BE49-F238E27FC236}">
                <a16:creationId xmlns:a16="http://schemas.microsoft.com/office/drawing/2014/main" id="{0C1A3394-78CC-43B0-9762-5E826F8BBFD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C347F0A-1980-4E13-AB22-AE3B8AA4405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4E9D858B-8A9C-4235-B151-81C99A3D20D2}"/>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6C7798B-3ECB-4076-8955-A82116BB0D2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068835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5C61D85-3E72-406F-AB26-B4ED94918442}"/>
              </a:ext>
            </a:extLst>
          </p:cNvPr>
          <p:cNvSpPr>
            <a:spLocks noGrp="1"/>
          </p:cNvSpPr>
          <p:nvPr>
            <p:ph type="dt" sz="half" idx="10"/>
          </p:nvPr>
        </p:nvSpPr>
        <p:spPr/>
        <p:txBody>
          <a:bodyPr/>
          <a:lstStyle/>
          <a:p>
            <a:endParaRPr lang="en-US"/>
          </a:p>
        </p:txBody>
      </p:sp>
      <p:sp>
        <p:nvSpPr>
          <p:cNvPr id="3" name="Footer Placeholder 2">
            <a:extLst>
              <a:ext uri="{FF2B5EF4-FFF2-40B4-BE49-F238E27FC236}">
                <a16:creationId xmlns:a16="http://schemas.microsoft.com/office/drawing/2014/main" id="{499C831E-4321-467E-9090-C89C48CF2F5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68A9556-B3D8-4403-835F-11AE2D4098E9}"/>
              </a:ext>
            </a:extLst>
          </p:cNvPr>
          <p:cNvSpPr>
            <a:spLocks noGrp="1"/>
          </p:cNvSpPr>
          <p:nvPr>
            <p:ph type="sldNum" sz="quarter" idx="12"/>
          </p:nvPr>
        </p:nvSpPr>
        <p:spPr/>
        <p:txBody>
          <a:bodyPr/>
          <a:lstStyle/>
          <a:p>
            <a:fld id="{5EEB83C2-341F-4C28-A243-1C56DDDA54D3}" type="slidenum">
              <a:rPr lang="en-US" smtClean="0"/>
              <a:t>‹#›</a:t>
            </a:fld>
            <a:endParaRPr lang="en-US"/>
          </a:p>
        </p:txBody>
      </p:sp>
    </p:spTree>
    <p:extLst>
      <p:ext uri="{BB962C8B-B14F-4D97-AF65-F5344CB8AC3E}">
        <p14:creationId xmlns:p14="http://schemas.microsoft.com/office/powerpoint/2010/main" val="35798630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A0AA48-D521-423D-B185-6490EF57B935}"/>
              </a:ext>
            </a:extLst>
          </p:cNvPr>
          <p:cNvSpPr>
            <a:spLocks noGrp="1"/>
          </p:cNvSpPr>
          <p:nvPr>
            <p:ph type="title"/>
          </p:nvPr>
        </p:nvSpPr>
        <p:spPr>
          <a:xfrm>
            <a:off x="572201" y="810344"/>
            <a:ext cx="3478084" cy="1408062"/>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8B64E6DD-DDD2-4ED6-B8A9-A8B6D7656549}"/>
              </a:ext>
            </a:extLst>
          </p:cNvPr>
          <p:cNvSpPr>
            <a:spLocks noGrp="1"/>
          </p:cNvSpPr>
          <p:nvPr>
            <p:ph idx="1"/>
          </p:nvPr>
        </p:nvSpPr>
        <p:spPr>
          <a:xfrm>
            <a:off x="4919809" y="931232"/>
            <a:ext cx="6700679" cy="5079369"/>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A3F08F5E-AD33-4ACF-84C9-78B0FF6BE3AC}"/>
              </a:ext>
            </a:extLst>
          </p:cNvPr>
          <p:cNvSpPr>
            <a:spLocks noGrp="1"/>
          </p:cNvSpPr>
          <p:nvPr>
            <p:ph type="body" sz="half" idx="2"/>
          </p:nvPr>
        </p:nvSpPr>
        <p:spPr>
          <a:xfrm>
            <a:off x="571500" y="2578608"/>
            <a:ext cx="3478783" cy="341724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D7604E-7DD4-4497-B325-74F899E8ACC6}"/>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F02BEED-A8F6-4256-9539-4434694AA16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EA1AA6-EE0B-48FD-A7DE-6CEE6A8C7DEB}"/>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B3F35B32-9A23-4805-94A6-96826D202139}"/>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62BA7DA-3944-40D4-91CD-40CA24DBB79B}"/>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8BEA0B78-39E7-4039-B8BE-4F425688C6DF}"/>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D68B99C-0744-42EE-9713-AB0CEC3F5D85}"/>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864566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12732-5D39-4B30-A499-D51BABC882EF}"/>
              </a:ext>
            </a:extLst>
          </p:cNvPr>
          <p:cNvSpPr>
            <a:spLocks noGrp="1"/>
          </p:cNvSpPr>
          <p:nvPr>
            <p:ph type="title"/>
          </p:nvPr>
        </p:nvSpPr>
        <p:spPr>
          <a:xfrm>
            <a:off x="571499" y="802204"/>
            <a:ext cx="3478787" cy="1408062"/>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23AF5AEC-77BC-4A52-8A56-C6479CA6A29D}"/>
              </a:ext>
            </a:extLst>
          </p:cNvPr>
          <p:cNvSpPr>
            <a:spLocks noGrp="1"/>
          </p:cNvSpPr>
          <p:nvPr>
            <p:ph type="pic" idx="1"/>
          </p:nvPr>
        </p:nvSpPr>
        <p:spPr>
          <a:xfrm>
            <a:off x="4723467" y="847384"/>
            <a:ext cx="6907844" cy="5216813"/>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860A9240-8762-4C7D-AF22-A844CB2EC871}"/>
              </a:ext>
            </a:extLst>
          </p:cNvPr>
          <p:cNvSpPr>
            <a:spLocks noGrp="1"/>
          </p:cNvSpPr>
          <p:nvPr>
            <p:ph type="body" sz="half" idx="2"/>
          </p:nvPr>
        </p:nvSpPr>
        <p:spPr>
          <a:xfrm>
            <a:off x="571498" y="2574906"/>
            <a:ext cx="3478787" cy="343571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995685-E45D-4E74-8B78-D3B8E85C434D}"/>
              </a:ext>
            </a:extLst>
          </p:cNvPr>
          <p:cNvSpPr>
            <a:spLocks noGrp="1"/>
          </p:cNvSpPr>
          <p:nvPr>
            <p:ph type="dt" sz="half" idx="10"/>
          </p:nvPr>
        </p:nvSpPr>
        <p:spPr/>
        <p:txBody>
          <a:bodyPr/>
          <a:lstStyle/>
          <a:p>
            <a:endParaRPr lang="en-US"/>
          </a:p>
        </p:txBody>
      </p:sp>
      <p:sp>
        <p:nvSpPr>
          <p:cNvPr id="6" name="Footer Placeholder 5">
            <a:extLst>
              <a:ext uri="{FF2B5EF4-FFF2-40B4-BE49-F238E27FC236}">
                <a16:creationId xmlns:a16="http://schemas.microsoft.com/office/drawing/2014/main" id="{321FCBA3-0FF5-47C2-901A-645F6185D2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030381-5320-46AD-A0B9-7C04B3E5A202}"/>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8" name="Straight Connector 7">
            <a:extLst>
              <a:ext uri="{FF2B5EF4-FFF2-40B4-BE49-F238E27FC236}">
                <a16:creationId xmlns:a16="http://schemas.microsoft.com/office/drawing/2014/main" id="{5357A432-D933-402A-8657-216EE20450EE}"/>
              </a:ext>
            </a:extLst>
          </p:cNvPr>
          <p:cNvCxnSpPr>
            <a:cxnSpLocks/>
          </p:cNvCxnSpPr>
          <p:nvPr/>
        </p:nvCxnSpPr>
        <p:spPr>
          <a:xfrm flipH="1">
            <a:off x="571500"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B1E0F3-D71B-436F-A10B-B6EA7125F684}"/>
              </a:ext>
            </a:extLst>
          </p:cNvPr>
          <p:cNvCxnSpPr>
            <a:cxnSpLocks/>
          </p:cNvCxnSpPr>
          <p:nvPr/>
        </p:nvCxnSpPr>
        <p:spPr>
          <a:xfrm flipV="1">
            <a:off x="4419601" y="571500"/>
            <a:ext cx="0" cy="5715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BDEE64F5-2B48-4A2E-BA5E-1D37F1A7C9A3}"/>
              </a:ext>
            </a:extLst>
          </p:cNvPr>
          <p:cNvCxnSpPr>
            <a:cxnSpLocks/>
          </p:cNvCxnSpPr>
          <p:nvPr/>
        </p:nvCxnSpPr>
        <p:spPr>
          <a:xfrm flipH="1">
            <a:off x="571501" y="2406845"/>
            <a:ext cx="38481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099BF9AA-A2C8-4233-B597-EB11C6D6A0E0}"/>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7363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799A0A-70FC-426A-8B3B-60FAF9806EB0}"/>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EF47EC6-9753-4ABC-BB66-64CCC8BA0808}"/>
              </a:ext>
            </a:extLst>
          </p:cNvPr>
          <p:cNvSpPr>
            <a:spLocks noGrp="1"/>
          </p:cNvSpPr>
          <p:nvPr>
            <p:ph type="body" orient="vert" idx="1"/>
          </p:nvPr>
        </p:nvSpPr>
        <p:spPr>
          <a:xfrm>
            <a:off x="571499" y="2036363"/>
            <a:ext cx="11059811" cy="387077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8884D9F-DC99-4B4C-98CF-178BBBB76646}"/>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1A7A6840-AC0B-4260-8368-08E0A22D22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6A5DAB8-EC07-4CCF-96EA-5D8ACDAE6E4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0438F1AC-9961-4786-A189-20863DD97F68}"/>
              </a:ext>
            </a:extLst>
          </p:cNvPr>
          <p:cNvCxnSpPr>
            <a:cxnSpLocks/>
          </p:cNvCxnSpPr>
          <p:nvPr/>
        </p:nvCxnSpPr>
        <p:spPr>
          <a:xfrm flipH="1">
            <a:off x="571500" y="1780979"/>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90290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C75F678-EC03-4845-A51B-C90FA6A15491}"/>
              </a:ext>
            </a:extLst>
          </p:cNvPr>
          <p:cNvSpPr>
            <a:spLocks noGrp="1"/>
          </p:cNvSpPr>
          <p:nvPr>
            <p:ph type="title" orient="vert"/>
          </p:nvPr>
        </p:nvSpPr>
        <p:spPr>
          <a:xfrm>
            <a:off x="9177953" y="797251"/>
            <a:ext cx="2483929" cy="5283785"/>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74A8B4D-A39F-4528-975A-9C84BEE778DF}"/>
              </a:ext>
            </a:extLst>
          </p:cNvPr>
          <p:cNvSpPr>
            <a:spLocks noGrp="1"/>
          </p:cNvSpPr>
          <p:nvPr>
            <p:ph type="body" orient="vert" idx="1"/>
          </p:nvPr>
        </p:nvSpPr>
        <p:spPr>
          <a:xfrm>
            <a:off x="566094" y="797251"/>
            <a:ext cx="8101072" cy="528378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15E4A23-6984-4AD1-A51D-600EDC263543}"/>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A9273E28-C341-49CC-BAAB-0C0D1982121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26D54A-8E86-4026-8DD0-5B0979BB8C78}"/>
              </a:ext>
            </a:extLst>
          </p:cNvPr>
          <p:cNvSpPr>
            <a:spLocks noGrp="1"/>
          </p:cNvSpPr>
          <p:nvPr>
            <p:ph type="sldNum" sz="quarter" idx="12"/>
          </p:nvPr>
        </p:nvSpPr>
        <p:spPr/>
        <p:txBody>
          <a:bodyPr/>
          <a:lstStyle/>
          <a:p>
            <a:fld id="{5EEB83C2-341F-4C28-A243-1C56DDDA54D3}" type="slidenum">
              <a:rPr lang="en-US" smtClean="0"/>
              <a:t>‹#›</a:t>
            </a:fld>
            <a:endParaRPr lang="en-US"/>
          </a:p>
        </p:txBody>
      </p:sp>
      <p:cxnSp>
        <p:nvCxnSpPr>
          <p:cNvPr id="7" name="Straight Connector 6">
            <a:extLst>
              <a:ext uri="{FF2B5EF4-FFF2-40B4-BE49-F238E27FC236}">
                <a16:creationId xmlns:a16="http://schemas.microsoft.com/office/drawing/2014/main" id="{1CB05DA4-DF32-4D7A-9E4D-36309C90C5BB}"/>
              </a:ext>
            </a:extLst>
          </p:cNvPr>
          <p:cNvCxnSpPr>
            <a:cxnSpLocks/>
          </p:cNvCxnSpPr>
          <p:nvPr/>
        </p:nvCxnSpPr>
        <p:spPr>
          <a:xfrm flipH="1">
            <a:off x="566094" y="57711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7CC7262-4997-41E4-976D-BA82E148280F}"/>
              </a:ext>
            </a:extLst>
          </p:cNvPr>
          <p:cNvCxnSpPr>
            <a:cxnSpLocks/>
          </p:cNvCxnSpPr>
          <p:nvPr/>
        </p:nvCxnSpPr>
        <p:spPr>
          <a:xfrm flipV="1">
            <a:off x="8875226" y="571500"/>
            <a:ext cx="0" cy="57114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6F5063B5-E478-4C41-AD40-49A39AE07429}"/>
              </a:ext>
            </a:extLst>
          </p:cNvPr>
          <p:cNvCxnSpPr>
            <a:cxnSpLocks/>
          </p:cNvCxnSpPr>
          <p:nvPr/>
        </p:nvCxnSpPr>
        <p:spPr>
          <a:xfrm flipH="1">
            <a:off x="577485" y="6283518"/>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1945477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51756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571499" y="1137256"/>
            <a:ext cx="11209376"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571499" y="348662"/>
            <a:ext cx="11209376" cy="464000"/>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8" name="Picture 7">
            <a:extLst>
              <a:ext uri="{FF2B5EF4-FFF2-40B4-BE49-F238E27FC236}">
                <a16:creationId xmlns:a16="http://schemas.microsoft.com/office/drawing/2014/main" id="{140DA784-0993-4F43-BA98-733CB6486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3489" y="6369932"/>
            <a:ext cx="12218977" cy="521007"/>
          </a:xfrm>
          <a:prstGeom prst="rect">
            <a:avLst/>
          </a:prstGeom>
        </p:spPr>
      </p:pic>
      <p:pic>
        <p:nvPicPr>
          <p:cNvPr id="6" name="Picture 5">
            <a:extLst>
              <a:ext uri="{FF2B5EF4-FFF2-40B4-BE49-F238E27FC236}">
                <a16:creationId xmlns:a16="http://schemas.microsoft.com/office/drawing/2014/main" id="{D5D41DD4-A5E8-4552-814D-0D80AF0F22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6134" y="6490361"/>
            <a:ext cx="1781941" cy="314840"/>
          </a:xfrm>
          <a:prstGeom prst="rect">
            <a:avLst/>
          </a:prstGeom>
        </p:spPr>
      </p:pic>
    </p:spTree>
    <p:extLst>
      <p:ext uri="{BB962C8B-B14F-4D97-AF65-F5344CB8AC3E}">
        <p14:creationId xmlns:p14="http://schemas.microsoft.com/office/powerpoint/2010/main" val="387529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6338323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40DA784-0993-4F43-BA98-733CB6486E2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353456"/>
            <a:ext cx="12218977" cy="521007"/>
          </a:xfrm>
          <a:prstGeom prst="rect">
            <a:avLst/>
          </a:prstGeom>
        </p:spPr>
      </p:pic>
      <p:sp>
        <p:nvSpPr>
          <p:cNvPr id="3" name="Content Placeholder 2">
            <a:extLst>
              <a:ext uri="{FF2B5EF4-FFF2-40B4-BE49-F238E27FC236}">
                <a16:creationId xmlns:a16="http://schemas.microsoft.com/office/drawing/2014/main" id="{0ECFECE9-D645-0540-9DA0-AEC7DA1A781C}"/>
              </a:ext>
            </a:extLst>
          </p:cNvPr>
          <p:cNvSpPr>
            <a:spLocks noGrp="1"/>
          </p:cNvSpPr>
          <p:nvPr>
            <p:ph idx="1"/>
          </p:nvPr>
        </p:nvSpPr>
        <p:spPr>
          <a:xfrm>
            <a:off x="571499" y="1137256"/>
            <a:ext cx="11209376" cy="4908082"/>
          </a:xfrm>
        </p:spPr>
        <p:txBody>
          <a:bodyPr/>
          <a:lstStyle>
            <a:lvl1pPr>
              <a:defRPr>
                <a:latin typeface="Georgia" panose="02040502050405020303" pitchFamily="18" charset="0"/>
              </a:defRPr>
            </a:lvl1pPr>
            <a:lvl2pPr>
              <a:defRPr>
                <a:latin typeface="Georgia" panose="02040502050405020303" pitchFamily="18" charset="0"/>
              </a:defRPr>
            </a:lvl2pPr>
            <a:lvl3pPr>
              <a:defRPr>
                <a:latin typeface="Georgia" panose="02040502050405020303" pitchFamily="18" charset="0"/>
              </a:defRPr>
            </a:lvl3pPr>
            <a:lvl4pPr>
              <a:defRPr>
                <a:latin typeface="Georgia" panose="02040502050405020303" pitchFamily="18" charset="0"/>
              </a:defRPr>
            </a:lvl4pPr>
            <a:lvl5pPr>
              <a:defRPr>
                <a:latin typeface="Georgia" panose="02040502050405020303" pitchFamily="18" charset="0"/>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Title 1">
            <a:extLst>
              <a:ext uri="{FF2B5EF4-FFF2-40B4-BE49-F238E27FC236}">
                <a16:creationId xmlns:a16="http://schemas.microsoft.com/office/drawing/2014/main" id="{9FB4E98A-97D9-4526-9E90-BA541F5B53B0}"/>
              </a:ext>
            </a:extLst>
          </p:cNvPr>
          <p:cNvSpPr>
            <a:spLocks noGrp="1"/>
          </p:cNvSpPr>
          <p:nvPr>
            <p:ph type="title" hasCustomPrompt="1"/>
          </p:nvPr>
        </p:nvSpPr>
        <p:spPr>
          <a:xfrm>
            <a:off x="571499" y="348662"/>
            <a:ext cx="11209376" cy="464000"/>
          </a:xfrm>
        </p:spPr>
        <p:txBody>
          <a:bodyPr>
            <a:noAutofit/>
          </a:bodyPr>
          <a:lstStyle>
            <a:lvl1pPr>
              <a:defRPr sz="3200" b="0">
                <a:solidFill>
                  <a:srgbClr val="A4123F"/>
                </a:solidFill>
                <a:latin typeface="Georgia" panose="02040502050405020303" pitchFamily="18" charset="0"/>
              </a:defRPr>
            </a:lvl1pPr>
          </a:lstStyle>
          <a:p>
            <a:r>
              <a:rPr lang="en-US"/>
              <a:t>Click Here To Edit Title</a:t>
            </a:r>
            <a:endParaRPr lang="en-IN"/>
          </a:p>
        </p:txBody>
      </p:sp>
      <p:pic>
        <p:nvPicPr>
          <p:cNvPr id="6" name="Picture 5">
            <a:extLst>
              <a:ext uri="{FF2B5EF4-FFF2-40B4-BE49-F238E27FC236}">
                <a16:creationId xmlns:a16="http://schemas.microsoft.com/office/drawing/2014/main" id="{D5D41DD4-A5E8-4552-814D-0D80AF0F22E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0126134" y="6490361"/>
            <a:ext cx="1781941" cy="314840"/>
          </a:xfrm>
          <a:prstGeom prst="rect">
            <a:avLst/>
          </a:prstGeom>
        </p:spPr>
      </p:pic>
      <p:sp>
        <p:nvSpPr>
          <p:cNvPr id="4" name="Slide Number Placeholder 6">
            <a:extLst>
              <a:ext uri="{FF2B5EF4-FFF2-40B4-BE49-F238E27FC236}">
                <a16:creationId xmlns:a16="http://schemas.microsoft.com/office/drawing/2014/main" id="{44B71D63-CC8F-7D5C-C54F-0439C001EC47}"/>
              </a:ext>
            </a:extLst>
          </p:cNvPr>
          <p:cNvSpPr>
            <a:spLocks noGrp="1"/>
          </p:cNvSpPr>
          <p:nvPr>
            <p:ph type="sldNum" sz="quarter" idx="12"/>
          </p:nvPr>
        </p:nvSpPr>
        <p:spPr>
          <a:xfrm>
            <a:off x="0" y="6525814"/>
            <a:ext cx="571499" cy="365125"/>
          </a:xfrm>
        </p:spPr>
        <p:txBody>
          <a:bodyPr/>
          <a:lstStyle>
            <a:lvl1pPr algn="l">
              <a:defRPr sz="1600" b="1">
                <a:solidFill>
                  <a:schemeClr val="bg1"/>
                </a:solidFill>
              </a:defRPr>
            </a:lvl1pPr>
          </a:lstStyle>
          <a:p>
            <a:fld id="{330EA680-D336-4FF7-8B7A-9848BB0A1C32}" type="slidenum">
              <a:rPr lang="en-US" smtClean="0"/>
              <a:pPr/>
              <a:t>‹#›</a:t>
            </a:fld>
            <a:endParaRPr lang="en-US"/>
          </a:p>
        </p:txBody>
      </p:sp>
      <p:sp>
        <p:nvSpPr>
          <p:cNvPr id="2" name="Slide Number Placeholder 6">
            <a:extLst>
              <a:ext uri="{FF2B5EF4-FFF2-40B4-BE49-F238E27FC236}">
                <a16:creationId xmlns:a16="http://schemas.microsoft.com/office/drawing/2014/main" id="{03E60720-4643-2A6C-4283-9BD3505F1DFE}"/>
              </a:ext>
            </a:extLst>
          </p:cNvPr>
          <p:cNvSpPr txBox="1">
            <a:spLocks/>
          </p:cNvSpPr>
          <p:nvPr userDrawn="1"/>
        </p:nvSpPr>
        <p:spPr>
          <a:xfrm>
            <a:off x="401263" y="6525813"/>
            <a:ext cx="1587335" cy="365125"/>
          </a:xfrm>
          <a:prstGeom prst="rect">
            <a:avLst/>
          </a:prstGeom>
        </p:spPr>
        <p:txBody>
          <a:bodyPr vert="horz" lIns="91440" tIns="45720" rIns="91440" bIns="45720" rtlCol="0" anchor="ctr"/>
          <a:lstStyle>
            <a:defPPr>
              <a:defRPr lang="en-US"/>
            </a:defPPr>
            <a:lvl1pPr marL="0" algn="l" defTabSz="914400" rtl="0" eaLnBrk="1" latinLnBrk="0" hangingPunct="1">
              <a:defRPr sz="16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Tree>
    <p:extLst>
      <p:ext uri="{BB962C8B-B14F-4D97-AF65-F5344CB8AC3E}">
        <p14:creationId xmlns:p14="http://schemas.microsoft.com/office/powerpoint/2010/main" val="3226262451"/>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9E1467D-9ED1-4211-A71E-41C91C755C9D}"/>
              </a:ext>
            </a:extLst>
          </p:cNvPr>
          <p:cNvSpPr>
            <a:spLocks noGrp="1"/>
          </p:cNvSpPr>
          <p:nvPr>
            <p:ph type="title"/>
          </p:nvPr>
        </p:nvSpPr>
        <p:spPr>
          <a:xfrm>
            <a:off x="571500" y="689289"/>
            <a:ext cx="11049000" cy="108410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1F8A6A1-C9C7-4FDF-B4DA-1E86B6A355F8}"/>
              </a:ext>
            </a:extLst>
          </p:cNvPr>
          <p:cNvSpPr>
            <a:spLocks noGrp="1"/>
          </p:cNvSpPr>
          <p:nvPr>
            <p:ph type="body" idx="1"/>
          </p:nvPr>
        </p:nvSpPr>
        <p:spPr>
          <a:xfrm>
            <a:off x="571499" y="2075688"/>
            <a:ext cx="11059811" cy="381808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7AACC44A-C635-4CD0-90E9-D9503AF4CCF2}"/>
              </a:ext>
            </a:extLst>
          </p:cNvPr>
          <p:cNvSpPr>
            <a:spLocks noGrp="1"/>
          </p:cNvSpPr>
          <p:nvPr>
            <p:ph type="dt" sz="half" idx="2"/>
          </p:nvPr>
        </p:nvSpPr>
        <p:spPr>
          <a:xfrm>
            <a:off x="8036732" y="6397103"/>
            <a:ext cx="3091928" cy="365125"/>
          </a:xfrm>
          <a:prstGeom prst="rect">
            <a:avLst/>
          </a:prstGeom>
        </p:spPr>
        <p:txBody>
          <a:bodyPr vert="horz" lIns="91440" tIns="45720" rIns="91440" bIns="45720" rtlCol="0" anchor="ctr"/>
          <a:lstStyle>
            <a:lvl1pPr algn="r">
              <a:defRPr sz="800" cap="all" spc="200" baseline="0">
                <a:solidFill>
                  <a:schemeClr val="tx1"/>
                </a:solidFill>
              </a:defRPr>
            </a:lvl1pPr>
          </a:lstStyle>
          <a:p>
            <a:endParaRPr lang="en-US"/>
          </a:p>
        </p:txBody>
      </p:sp>
      <p:sp>
        <p:nvSpPr>
          <p:cNvPr id="5" name="Footer Placeholder 4">
            <a:extLst>
              <a:ext uri="{FF2B5EF4-FFF2-40B4-BE49-F238E27FC236}">
                <a16:creationId xmlns:a16="http://schemas.microsoft.com/office/drawing/2014/main" id="{58ABF682-1A47-492C-81E3-9DB0A50ECB1F}"/>
              </a:ext>
            </a:extLst>
          </p:cNvPr>
          <p:cNvSpPr>
            <a:spLocks noGrp="1"/>
          </p:cNvSpPr>
          <p:nvPr>
            <p:ph type="ftr" sz="quarter" idx="3"/>
          </p:nvPr>
        </p:nvSpPr>
        <p:spPr>
          <a:xfrm>
            <a:off x="475782" y="6397103"/>
            <a:ext cx="4114800" cy="365125"/>
          </a:xfrm>
          <a:prstGeom prst="rect">
            <a:avLst/>
          </a:prstGeom>
        </p:spPr>
        <p:txBody>
          <a:bodyPr vert="horz" lIns="91440" tIns="45720" rIns="91440" bIns="45720" rtlCol="0" anchor="ctr"/>
          <a:lstStyle>
            <a:lvl1pPr algn="l">
              <a:defRPr sz="800" cap="all" spc="20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6CCC814B-9105-44ED-98A9-D326B2E2605C}"/>
              </a:ext>
            </a:extLst>
          </p:cNvPr>
          <p:cNvSpPr>
            <a:spLocks noGrp="1"/>
          </p:cNvSpPr>
          <p:nvPr>
            <p:ph type="sldNum" sz="quarter" idx="4"/>
          </p:nvPr>
        </p:nvSpPr>
        <p:spPr>
          <a:xfrm>
            <a:off x="11024553" y="6397103"/>
            <a:ext cx="700775" cy="365125"/>
          </a:xfrm>
          <a:prstGeom prst="rect">
            <a:avLst/>
          </a:prstGeom>
        </p:spPr>
        <p:txBody>
          <a:bodyPr vert="horz" lIns="91440" tIns="45720" rIns="91440" bIns="45720" rtlCol="0" anchor="ctr"/>
          <a:lstStyle>
            <a:lvl1pPr algn="r">
              <a:defRPr sz="800">
                <a:solidFill>
                  <a:schemeClr val="tx1"/>
                </a:solidFill>
              </a:defRPr>
            </a:lvl1pPr>
          </a:lstStyle>
          <a:p>
            <a:fld id="{5EEB83C2-341F-4C28-A243-1C56DDDA54D3}" type="slidenum">
              <a:rPr lang="en-US" smtClean="0"/>
              <a:t>‹#›</a:t>
            </a:fld>
            <a:endParaRPr lang="en-US"/>
          </a:p>
        </p:txBody>
      </p:sp>
      <p:cxnSp>
        <p:nvCxnSpPr>
          <p:cNvPr id="20" name="Straight Connector 19">
            <a:extLst>
              <a:ext uri="{FF2B5EF4-FFF2-40B4-BE49-F238E27FC236}">
                <a16:creationId xmlns:a16="http://schemas.microsoft.com/office/drawing/2014/main" id="{A6814345-41DE-42C5-8657-66C1417DF81A}"/>
              </a:ext>
            </a:extLst>
          </p:cNvPr>
          <p:cNvCxnSpPr>
            <a:cxnSpLocks/>
          </p:cNvCxnSpPr>
          <p:nvPr/>
        </p:nvCxnSpPr>
        <p:spPr>
          <a:xfrm flipH="1">
            <a:off x="566094" y="6286347"/>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E68E419-3727-4F5E-8840-AF149B33B0B7}"/>
              </a:ext>
            </a:extLst>
          </p:cNvPr>
          <p:cNvCxnSpPr>
            <a:cxnSpLocks/>
          </p:cNvCxnSpPr>
          <p:nvPr/>
        </p:nvCxnSpPr>
        <p:spPr>
          <a:xfrm flipH="1">
            <a:off x="577485" y="1883336"/>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519B6EC-D7AE-452F-8D0C-D11BD3377F3E}"/>
              </a:ext>
            </a:extLst>
          </p:cNvPr>
          <p:cNvCxnSpPr>
            <a:cxnSpLocks/>
          </p:cNvCxnSpPr>
          <p:nvPr/>
        </p:nvCxnSpPr>
        <p:spPr>
          <a:xfrm flipH="1">
            <a:off x="577485" y="571500"/>
            <a:ext cx="110598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1067970"/>
      </p:ext>
    </p:extLst>
  </p:cSld>
  <p:clrMap bg1="lt1" tx1="dk1" bg2="lt2" tx2="dk2" accent1="accent1" accent2="accent2" accent3="accent3" accent4="accent4" accent5="accent5" accent6="accent6" hlink="hlink" folHlink="folHlink"/>
  <p:sldLayoutIdLst>
    <p:sldLayoutId id="2147483687"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Lst>
  <p:hf hdr="0" ftr="0"/>
  <p:txStyles>
    <p:titleStyle>
      <a:lvl1pPr algn="l" defTabSz="914400" rtl="0" eaLnBrk="1" latinLnBrk="0" hangingPunct="1">
        <a:lnSpc>
          <a:spcPct val="90000"/>
        </a:lnSpc>
        <a:spcBef>
          <a:spcPct val="0"/>
        </a:spcBef>
        <a:buNone/>
        <a:defRPr sz="4000" kern="1200" spc="-100" baseline="0">
          <a:solidFill>
            <a:schemeClr val="tx1"/>
          </a:solidFill>
          <a:latin typeface="Batang" panose="02030600000101010101" pitchFamily="18" charset="-127"/>
          <a:ea typeface="Batang" panose="02030600000101010101" pitchFamily="18" charset="-127"/>
          <a:cs typeface="+mj-cs"/>
        </a:defRPr>
      </a:lvl1pPr>
    </p:titleStyle>
    <p:bodyStyle>
      <a:lvl1pPr marL="228600" indent="-228600" algn="l" defTabSz="914400" rtl="0" eaLnBrk="1" latinLnBrk="0" hangingPunct="1">
        <a:lnSpc>
          <a:spcPct val="120000"/>
        </a:lnSpc>
        <a:spcBef>
          <a:spcPts val="1000"/>
        </a:spcBef>
        <a:buSzPct val="8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SzPct val="80000"/>
        <a:buFont typeface="Avenir Next LT Pro Light" panose="020B0304020202020204" pitchFamily="34" charset="0"/>
        <a:buChar char="–"/>
        <a:defRPr sz="1800" kern="1200">
          <a:solidFill>
            <a:schemeClr val="tx1"/>
          </a:solidFill>
          <a:latin typeface="+mn-lt"/>
          <a:ea typeface="+mn-ea"/>
          <a:cs typeface="+mn-cs"/>
        </a:defRPr>
      </a:lvl2pPr>
      <a:lvl3pPr marL="731520" indent="-228600" algn="l" defTabSz="914400" rtl="0" eaLnBrk="1" latinLnBrk="0" hangingPunct="1">
        <a:lnSpc>
          <a:spcPct val="120000"/>
        </a:lnSpc>
        <a:spcBef>
          <a:spcPts val="500"/>
        </a:spcBef>
        <a:buSzPct val="80000"/>
        <a:buFont typeface="Arial" panose="020B0604020202020204" pitchFamily="34" charset="0"/>
        <a:buChar char="•"/>
        <a:defRPr sz="1600" kern="1200">
          <a:solidFill>
            <a:schemeClr val="tx1"/>
          </a:solidFill>
          <a:latin typeface="+mn-lt"/>
          <a:ea typeface="+mn-ea"/>
          <a:cs typeface="+mn-cs"/>
        </a:defRPr>
      </a:lvl3pPr>
      <a:lvl4pPr marL="1005840" indent="-228600" algn="l" defTabSz="914400" rtl="0" eaLnBrk="1" latinLnBrk="0" hangingPunct="1">
        <a:lnSpc>
          <a:spcPct val="120000"/>
        </a:lnSpc>
        <a:spcBef>
          <a:spcPts val="500"/>
        </a:spcBef>
        <a:buSzPct val="80000"/>
        <a:buFont typeface="Avenir Next LT Pro Light" panose="020B0304020202020204" pitchFamily="34" charset="0"/>
        <a:buChar char="–"/>
        <a:defRPr sz="1400" kern="1200">
          <a:solidFill>
            <a:schemeClr val="tx1"/>
          </a:solidFill>
          <a:latin typeface="+mn-lt"/>
          <a:ea typeface="+mn-ea"/>
          <a:cs typeface="+mn-cs"/>
        </a:defRPr>
      </a:lvl4pPr>
      <a:lvl5pPr marL="1280160" indent="-228600" algn="l" defTabSz="914400" rtl="0" eaLnBrk="1" latinLnBrk="0" hangingPunct="1">
        <a:lnSpc>
          <a:spcPct val="120000"/>
        </a:lnSpc>
        <a:spcBef>
          <a:spcPts val="500"/>
        </a:spcBef>
        <a:buSzPct val="80000"/>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2.xml"/></Relationships>
</file>

<file path=ppt/slides/_rels/slide2.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4.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11.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13.xml.rels><?xml version="1.0" encoding="UTF-8"?><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image" Target="../media/comparison_results.png"/><Relationship Id="rId3" Type="http://schemas.openxmlformats.org/officeDocument/2006/relationships/image" Target="../media/comparison_table.png"/><Relationship Id="rId4" Type="http://schemas.openxmlformats.org/officeDocument/2006/relationships/image" Target="../media/phase2_performance_plot.png"/></Relationships>
</file>

<file path=ppt/slides/_rels/slide14.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15.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Relationships xmlns="http://schemas.openxmlformats.org/package/2006/relationships"><Relationship Id="rId1" Type="http://schemas.openxmlformats.org/officeDocument/2006/relationships/slideLayout" Target="../slideLayouts/slideLayout26.xml"/></Relationships>
</file>

<file path=ppt/slides/_rels/slide18.xml.rels><?xml version="1.0" encoding="UTF-8"?><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DC7025E-4863-6F49-AD01-8A5B65B0890F}"/>
              </a:ext>
            </a:extLst>
          </p:cNvPr>
          <p:cNvSpPr/>
          <p:nvPr/>
        </p:nvSpPr>
        <p:spPr>
          <a:xfrm>
            <a:off x="0" y="0"/>
            <a:ext cx="12191999" cy="6858000"/>
          </a:xfrm>
          <a:prstGeom prst="rect">
            <a:avLst/>
          </a:prstGeom>
          <a:solidFill>
            <a:srgbClr val="B811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r>
              <a:rPr lang="en-US" sz="1350">
                <a:solidFill>
                  <a:prstClr val="white"/>
                </a:solidFill>
                <a:latin typeface="Calibri" panose="020F0502020204030204"/>
              </a:rPr>
              <a:t xml:space="preserve"> </a:t>
            </a:r>
          </a:p>
        </p:txBody>
      </p:sp>
      <p:pic>
        <p:nvPicPr>
          <p:cNvPr id="7" name="Picture 6" descr="A picture containing drawing  Description automatically generated">
            <a:extLst>
              <a:ext uri="{FF2B5EF4-FFF2-40B4-BE49-F238E27FC236}">
                <a16:creationId xmlns:a16="http://schemas.microsoft.com/office/drawing/2014/main" id="{80288CD4-7B52-C244-BAD4-BFF7D9DCE675}"/>
              </a:ext>
            </a:extLst>
          </p:cNvPr>
          <p:cNvPicPr>
            <a:picLocks noChangeAspect="1"/>
          </p:cNvPicPr>
          <p:nvPr/>
        </p:nvPicPr>
        <p:blipFill>
          <a:blip r:embed="rId2"/>
          <a:stretch>
            <a:fillRect/>
          </a:stretch>
        </p:blipFill>
        <p:spPr>
          <a:xfrm>
            <a:off x="1001154" y="2576466"/>
            <a:ext cx="3443174" cy="1104899"/>
          </a:xfrm>
          <a:prstGeom prst="rect">
            <a:avLst/>
          </a:prstGeom>
        </p:spPr>
      </p:pic>
      <p:cxnSp>
        <p:nvCxnSpPr>
          <p:cNvPr id="3" name="Straight Connector 2">
            <a:extLst>
              <a:ext uri="{FF2B5EF4-FFF2-40B4-BE49-F238E27FC236}">
                <a16:creationId xmlns:a16="http://schemas.microsoft.com/office/drawing/2014/main" id="{4BA58083-EF1A-427F-9030-DC289843A2BF}"/>
              </a:ext>
            </a:extLst>
          </p:cNvPr>
          <p:cNvCxnSpPr>
            <a:cxnSpLocks/>
          </p:cNvCxnSpPr>
          <p:nvPr/>
        </p:nvCxnSpPr>
        <p:spPr>
          <a:xfrm>
            <a:off x="4335124" y="2310508"/>
            <a:ext cx="0" cy="1636813"/>
          </a:xfrm>
          <a:prstGeom prst="line">
            <a:avLst/>
          </a:prstGeom>
          <a:ln>
            <a:solidFill>
              <a:srgbClr val="FFC000"/>
            </a:solidFill>
          </a:ln>
        </p:spPr>
        <p:style>
          <a:lnRef idx="1">
            <a:schemeClr val="accent2"/>
          </a:lnRef>
          <a:fillRef idx="0">
            <a:schemeClr val="accent2"/>
          </a:fillRef>
          <a:effectRef idx="0">
            <a:schemeClr val="accent2"/>
          </a:effectRef>
          <a:fontRef idx="minor">
            <a:schemeClr val="tx1"/>
          </a:fontRef>
        </p:style>
      </p:cxnSp>
      <p:sp>
        <p:nvSpPr>
          <p:cNvPr id="2" name="TextBox 1">
            <a:extLst>
              <a:ext uri="{FF2B5EF4-FFF2-40B4-BE49-F238E27FC236}">
                <a16:creationId xmlns:a16="http://schemas.microsoft.com/office/drawing/2014/main" id="{4FF19762-9449-7F8E-ED51-CE92E43F0E91}"/>
              </a:ext>
            </a:extLst>
          </p:cNvPr>
          <p:cNvSpPr txBox="1"/>
          <p:nvPr/>
        </p:nvSpPr>
        <p:spPr>
          <a:xfrm>
            <a:off x="5102634" y="2862695"/>
            <a:ext cx="6118050" cy="769441"/>
          </a:xfrm>
          <a:prstGeom prst="rect">
            <a:avLst/>
          </a:prstGeom>
          <a:noFill/>
        </p:spPr>
        <p:txBody>
          <a:bodyPr wrap="square" lIns="91440" tIns="45720" rIns="91440" bIns="45720" rtlCol="0" anchor="t">
            <a:normAutofit fontScale="75000" lnSpcReduction="10000"/>
          </a:bodyPr>
          <a:lstStyle/>
          <a:p>
            <a:pPr algn="ctr" defTabSz="457200"/>
            <a:r>
              <a:rPr lang="en-US" sz="3200" b="1" dirty="0">
                <a:solidFill>
                  <a:schemeClr val="bg1"/>
                </a:solidFill>
                <a:latin typeface="Segoe UI"/>
                <a:cs typeface="Segoe UI"/>
              </a:rPr>
              <a:t>HQ-Map: Hierarchical Q-Learning for</a:t>
            </a:r>
          </a:p>
          <a:p>
            <a:pPr algn="ctr" defTabSz="457200"/>
            <a:r>
              <a:rPr lang="en-US" sz="3200" b="1" dirty="0">
                <a:solidFill>
                  <a:schemeClr val="bg1"/>
                </a:solidFill>
                <a:latin typeface="Segoe UI"/>
                <a:cs typeface="Segoe UI"/>
              </a:rPr>
              <a:t>Thermal-Aware Task Mapping</a:t>
            </a:r>
          </a:p>
          <a:p>
            <a:pPr algn="ctr" defTabSz="457200"/>
            <a:r>
              <a:rPr lang="en-US" sz="3200" b="1" dirty="0">
                <a:solidFill>
                  <a:schemeClr val="bg1"/>
                </a:solidFill>
                <a:latin typeface="Segoe UI"/>
                <a:cs typeface="Segoe UI"/>
              </a:rPr>
              <a:t>in Automotive NoC SoCs</a:t>
            </a:r>
            <a:endParaRPr lang="en-US" sz="3200" b="1" dirty="0">
              <a:solidFill>
                <a:schemeClr val="bg1"/>
              </a:solidFill>
              <a:latin typeface="Segoe UI"/>
            </a:endParaRPr>
          </a:p>
        </p:txBody>
      </p:sp>
      <p:sp>
        <p:nvSpPr>
          <p:cNvPr id="4" name="TextBox 3">
            <a:extLst>
              <a:ext uri="{FF2B5EF4-FFF2-40B4-BE49-F238E27FC236}">
                <a16:creationId xmlns:a16="http://schemas.microsoft.com/office/drawing/2014/main" id="{9F92AFA7-A803-1602-35C8-C21ED8130634}"/>
              </a:ext>
            </a:extLst>
          </p:cNvPr>
          <p:cNvSpPr txBox="1"/>
          <p:nvPr/>
        </p:nvSpPr>
        <p:spPr>
          <a:xfrm>
            <a:off x="6617669" y="4954823"/>
            <a:ext cx="3443171" cy="1200329"/>
          </a:xfrm>
          <a:prstGeom prst="rect">
            <a:avLst/>
          </a:prstGeom>
          <a:noFill/>
        </p:spPr>
        <p:txBody>
          <a:bodyPr wrap="square" lIns="91440" tIns="45720" rIns="91440" bIns="45720" rtlCol="0" anchor="t">
            <a:spAutoFit/>
          </a:bodyPr>
          <a:lstStyle/>
          <a:p>
            <a:r>
              <a:rPr lang="en-US" dirty="0">
                <a:solidFill>
                  <a:schemeClr val="bg1"/>
                </a:solidFill>
                <a:latin typeface="Times New Roman" panose="02020603050405020304" pitchFamily="18" charset="0"/>
                <a:cs typeface="Times New Roman" panose="02020603050405020304" pitchFamily="18" charset="0"/>
              </a:rPr>
              <a:t>[Student Name] AM.EN.U4CSE22XXX</a:t>
            </a:r>
            <a:endParaRPr lang="en-IN"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[Student Name] AM.EN.U4CSE22XXX</a:t>
            </a:r>
            <a:endParaRPr lang="en-IN"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[Student Name] AM.EN.U4CSE22XXX</a:t>
            </a:r>
            <a:endParaRPr lang="en-IN" dirty="0">
              <a:solidFill>
                <a:schemeClr val="bg1"/>
              </a:solidFill>
              <a:latin typeface="Times New Roman" panose="02020603050405020304" pitchFamily="18" charset="0"/>
              <a:cs typeface="Times New Roman" panose="02020603050405020304" pitchFamily="18" charset="0"/>
            </a:endParaRPr>
          </a:p>
          <a:p>
            <a:r>
              <a:rPr lang="en-US" dirty="0">
                <a:solidFill>
                  <a:schemeClr val="bg1"/>
                </a:solidFill>
                <a:latin typeface="Times New Roman" panose="02020603050405020304" pitchFamily="18" charset="0"/>
                <a:cs typeface="Times New Roman" panose="02020603050405020304" pitchFamily="18" charset="0"/>
              </a:rPr>
              <a:t>[Student Name] AM.EN.U4CSE22XXX</a:t>
            </a:r>
            <a:endParaRPr lang="en-IN" dirty="0">
              <a:solidFill>
                <a:schemeClr val="bg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E7B1EF1F-2300-829E-6E9B-9FE25D611E45}"/>
              </a:ext>
            </a:extLst>
          </p:cNvPr>
          <p:cNvSpPr txBox="1"/>
          <p:nvPr/>
        </p:nvSpPr>
        <p:spPr>
          <a:xfrm>
            <a:off x="6268046" y="3870094"/>
            <a:ext cx="3443171" cy="646331"/>
          </a:xfrm>
          <a:prstGeom prst="rect">
            <a:avLst/>
          </a:prstGeom>
          <a:noFill/>
        </p:spPr>
        <p:txBody>
          <a:bodyPr wrap="square" lIns="91440" tIns="45720" rIns="91440" bIns="45720" rtlCol="0" anchor="t">
            <a:spAutoFit/>
          </a:bodyPr>
          <a:lstStyle/>
          <a:p>
            <a:r>
              <a:rPr lang="en-IN" dirty="0">
                <a:solidFill>
                  <a:schemeClr val="bg1"/>
                </a:solidFill>
                <a:latin typeface="Times New Roman" panose="02020603050405020304" pitchFamily="18" charset="0"/>
                <a:cs typeface="Times New Roman" panose="02020603050405020304" pitchFamily="18" charset="0"/>
              </a:rPr>
              <a:t>Guided by,</a:t>
            </a:r>
          </a:p>
          <a:p>
            <a:r>
              <a:rPr lang="en-IN" dirty="0">
                <a:solidFill>
                  <a:schemeClr val="bg1"/>
                </a:solidFill>
                <a:latin typeface="Times New Roman" panose="02020603050405020304" pitchFamily="18" charset="0"/>
                <a:cs typeface="Times New Roman" panose="02020603050405020304" pitchFamily="18" charset="0"/>
              </a:rPr>
              <a:t xml:space="preserve">		Dr. [Guide Name]</a:t>
            </a:r>
          </a:p>
        </p:txBody>
      </p:sp>
    </p:spTree>
    <p:extLst>
      <p:ext uri="{BB962C8B-B14F-4D97-AF65-F5344CB8AC3E}">
        <p14:creationId xmlns:p14="http://schemas.microsoft.com/office/powerpoint/2010/main" val="30059229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6FB7946-4A61-F0D4-E3EF-98A282757125}"/>
              </a:ext>
            </a:extLst>
          </p:cNvPr>
          <p:cNvSpPr>
            <a:spLocks noGrp="1"/>
          </p:cNvSpPr>
          <p:nvPr>
            <p:ph idx="1"/>
          </p:nvPr>
        </p:nvSpPr>
        <p:spPr/>
        <p:txBody>
          <a:bodyPr vert="horz" lIns="91440" tIns="45720" rIns="91440" bIns="45720" rtlCol="0" anchor="t">
            <a:normAutofit fontScale="70000" lnSpcReduction="20000"/>
          </a:bodyPr>
          <a:lstStyle/>
          <a:p>
            <a:r>
              <a:rPr lang="en-IN" sz="2400" dirty="0"/>
              <a:t>Introduction</a:t>
            </a:r>
          </a:p>
          <a:p>
            <a:r>
              <a:rPr lang="en-IN" sz="2400" dirty="0"/>
              <a:t>Problem Definition</a:t>
            </a:r>
          </a:p>
          <a:p>
            <a:r>
              <a:rPr lang="en-IN" sz="2400" dirty="0"/>
              <a:t>Objectives</a:t>
            </a:r>
          </a:p>
          <a:p>
            <a:r>
              <a:rPr lang="en-IN" sz="2400" dirty="0"/>
              <a:t>Literature Review Summary(Table)</a:t>
            </a:r>
          </a:p>
          <a:p>
            <a:r>
              <a:rPr lang="en-IN" sz="2400" dirty="0"/>
              <a:t>Research Gap</a:t>
            </a:r>
          </a:p>
          <a:p>
            <a:r>
              <a:rPr lang="en-IN" sz="2400" dirty="0"/>
              <a:t>Dataset Description</a:t>
            </a:r>
          </a:p>
          <a:p>
            <a:r>
              <a:rPr lang="en-IN" sz="2400" dirty="0"/>
              <a:t>Methodology / Proposed Method</a:t>
            </a:r>
          </a:p>
          <a:p>
            <a:r>
              <a:rPr lang="en-IN" sz="2400" dirty="0"/>
              <a:t>Design/ Architecture</a:t>
            </a:r>
          </a:p>
          <a:p>
            <a:r>
              <a:rPr lang="en-IN" sz="2400" dirty="0"/>
              <a:t>Algorithms (if any)</a:t>
            </a:r>
          </a:p>
          <a:p>
            <a:r>
              <a:rPr lang="en-IN" sz="2400" dirty="0"/>
              <a:t>Evaluation Metrics</a:t>
            </a:r>
          </a:p>
          <a:p>
            <a:r>
              <a:rPr lang="en-IN" sz="2400" dirty="0"/>
              <a:t>Result Analysis</a:t>
            </a:r>
          </a:p>
          <a:p>
            <a:r>
              <a:rPr lang="en-IN" sz="2400" dirty="0"/>
              <a:t>Alignment with SDG Goals</a:t>
            </a:r>
          </a:p>
          <a:p>
            <a:r>
              <a:rPr lang="en-IN" sz="2400" dirty="0"/>
              <a:t>Limitations</a:t>
            </a:r>
          </a:p>
          <a:p>
            <a:r>
              <a:rPr lang="en-IN" sz="2400" dirty="0"/>
              <a:t>Future Works</a:t>
            </a:r>
          </a:p>
          <a:p>
            <a:r>
              <a:rPr lang="en-IN" sz="2400"/>
              <a:t>Publications</a:t>
            </a:r>
            <a:endParaRPr lang="en-IN" sz="2400" dirty="0"/>
          </a:p>
          <a:p>
            <a:r>
              <a:rPr lang="en-IN" sz="2400" dirty="0">
                <a:latin typeface="Georgia"/>
              </a:rPr>
              <a:t>Reference(APA style)</a:t>
            </a:r>
          </a:p>
        </p:txBody>
      </p:sp>
      <p:sp>
        <p:nvSpPr>
          <p:cNvPr id="3" name="Title 2">
            <a:extLst>
              <a:ext uri="{FF2B5EF4-FFF2-40B4-BE49-F238E27FC236}">
                <a16:creationId xmlns:a16="http://schemas.microsoft.com/office/drawing/2014/main" id="{E8F80A38-C040-884E-9416-3B2C3AC0417C}"/>
              </a:ext>
            </a:extLst>
          </p:cNvPr>
          <p:cNvSpPr>
            <a:spLocks noGrp="1"/>
          </p:cNvSpPr>
          <p:nvPr>
            <p:ph type="title"/>
          </p:nvPr>
        </p:nvSpPr>
        <p:spPr/>
        <p:txBody>
          <a:bodyPr/>
          <a:lstStyle/>
          <a:p>
            <a:r>
              <a:rPr lang="en-IN" dirty="0"/>
              <a:t>Outline</a:t>
            </a:r>
          </a:p>
        </p:txBody>
      </p:sp>
      <p:sp>
        <p:nvSpPr>
          <p:cNvPr id="4" name="Slide Number Placeholder 3">
            <a:extLst>
              <a:ext uri="{FF2B5EF4-FFF2-40B4-BE49-F238E27FC236}">
                <a16:creationId xmlns:a16="http://schemas.microsoft.com/office/drawing/2014/main" id="{8F7A0663-8695-8CFA-B1EF-3BA1E5427634}"/>
              </a:ext>
            </a:extLst>
          </p:cNvPr>
          <p:cNvSpPr>
            <a:spLocks noGrp="1"/>
          </p:cNvSpPr>
          <p:nvPr>
            <p:ph type="sldNum" sz="quarter" idx="12"/>
          </p:nvPr>
        </p:nvSpPr>
        <p:spPr/>
        <p:txBody>
          <a:bodyPr/>
          <a:lstStyle/>
          <a:p>
            <a:fld id="{330EA680-D336-4FF7-8B7A-9848BB0A1C32}" type="slidenum">
              <a:rPr lang="en-US" smtClean="0"/>
              <a:pPr/>
              <a:t>2</a:t>
            </a:fld>
            <a:endParaRPr lang="en-US"/>
          </a:p>
        </p:txBody>
      </p:sp>
      <p:sp>
        <p:nvSpPr>
          <p:cNvPr id="6" name="TextBox 5">
            <a:extLst>
              <a:ext uri="{FF2B5EF4-FFF2-40B4-BE49-F238E27FC236}">
                <a16:creationId xmlns:a16="http://schemas.microsoft.com/office/drawing/2014/main" id="{6A894FFD-4989-522F-352B-AB6F2C397014}"/>
              </a:ext>
            </a:extLst>
          </p:cNvPr>
          <p:cNvSpPr txBox="1"/>
          <p:nvPr/>
        </p:nvSpPr>
        <p:spPr>
          <a:xfrm>
            <a:off x="2976282" y="6488668"/>
            <a:ext cx="6714565" cy="323165"/>
          </a:xfrm>
          <a:prstGeom prst="rect">
            <a:avLst/>
          </a:prstGeom>
          <a:noFill/>
        </p:spPr>
        <p:txBody>
          <a:bodyPr wrap="square" rtlCol="0">
            <a:spAutoFit/>
          </a:bodyPr>
          <a:lstStyle/>
          <a:p>
            <a:r>
              <a:rPr lang="en-IN" sz="1500" dirty="0">
                <a:solidFill>
                  <a:schemeClr val="bg1">
                    <a:lumMod val="85000"/>
                  </a:schemeClr>
                </a:solidFill>
              </a:rPr>
              <a:t>HQ-Map: Hierarchical Q-Learning for Automotive NoC SoCs</a:t>
            </a:r>
          </a:p>
        </p:txBody>
      </p:sp>
    </p:spTree>
    <p:extLst>
      <p:ext uri="{BB962C8B-B14F-4D97-AF65-F5344CB8AC3E}">
        <p14:creationId xmlns:p14="http://schemas.microsoft.com/office/powerpoint/2010/main" val="2683305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200" b="1" dirty="0"/>
              <a:t>Background</a:t>
            </a:r>
          </a:p>
          <a:p>
            <a:pPr algn="l">
              <a:lnSpc>
                <a:spcPts val="1800"/>
              </a:lnSpc>
            </a:pPr>
            <a:r>
              <a:rPr lang="en-US" sz="1700" dirty="0"/>
              <a:t>Modern automotive System-on-Chips (SoCs) integrate 60+ heterogeneous cores on a single Network-on-Chip (NoC). These systems must simultaneously handle safety-critical ADAS pipelines (ISO 26262 ASIL-D), high-bandwidth sensor fusion (Camera + Lidar + Radar), and background infotainment tasks.</a:t>
            </a:r>
          </a:p>
          <a:p>
            <a:pPr algn="l">
              <a:lnSpc>
                <a:spcPts val="1800"/>
              </a:lnSpc>
            </a:pPr>
            <a:r>
              <a:rPr lang="en-US" sz="2200" b="1" dirty="0"/>
              <a:t>The Challenge</a:t>
            </a:r>
          </a:p>
          <a:p>
            <a:pPr algn="l">
              <a:lnSpc>
                <a:spcPts val="1800"/>
              </a:lnSpc>
            </a:pPr>
            <a:r>
              <a:rPr lang="en-US" sz="1700" dirty="0"/>
              <a:t>Static task mapping fails under dynamic driving conditions. As the vehicle transitions between City, Highway, and Parked modes, the workload composition changes dramatically — shifting from balanced ADAS+Navigation to dense 15-task safety-critical sensor fusion. No existing mapping framework co-optimises all three automotive constraints simultaneously.</a:t>
            </a:r>
          </a:p>
          <a:p>
            <a:pPr algn="l">
              <a:lnSpc>
                <a:spcPts val="1800"/>
              </a:lnSpc>
            </a:pPr>
            <a:r>
              <a:rPr lang="en-US" sz="2200" b="1" dirty="0"/>
              <a:t>Our Contribution</a:t>
            </a:r>
          </a:p>
          <a:p>
            <a:pPr algn="l">
              <a:lnSpc>
                <a:spcPts val="1800"/>
              </a:lnSpc>
            </a:pPr>
            <a:r>
              <a:rPr lang="en-US" sz="1700" dirty="0"/>
              <a:t>HQ-Map: a Hierarchical Q-learning task mapper for automotive NoC SoCs that jointly optimises communication latency, thermal safety, and ISO 26262 safety-critical task proximity across all driving modes using a novel two-level RL decision hierarchy.</a:t>
            </a:r>
          </a:p>
        </p:txBody>
      </p:sp>
      <p:sp>
        <p:nvSpPr>
          <p:cNvPr id="3" name="Title 2"/>
          <p:cNvSpPr>
            <a:spLocks noGrp="1"/>
          </p:cNvSpPr>
          <p:nvPr>
            <p:ph type="title"/>
          </p:nvPr>
        </p:nvSpPr>
        <p:spPr/>
        <p:txBody>
          <a:bodyPr/>
          <a:lstStyle/>
          <a:p>
            <a:r>
              <a:rPr lang="en-US" dirty="0"/>
              <a:t>Introduction</a:t>
            </a:r>
          </a:p>
        </p:txBody>
      </p:sp>
      <p:sp>
        <p:nvSpPr>
          <p:cNvPr id="4" name="Slide Number Placeholder 3"/>
          <p:cNvSpPr>
            <a:spLocks noGrp="1"/>
          </p:cNvSpPr>
          <p:nvPr>
            <p:ph type="sldNum" sz="quarter" idx="12"/>
          </p:nvPr>
        </p:nvSpPr>
        <p:spPr/>
        <p:txBody>
          <a:bodyPr/>
          <a:lstStyle/>
          <a:p>
            <a:fld id="{330EA680-D336-4FF7-8B7A-9848BB0A1C03}" type="slidenum">
              <a:rPr lang="en-US" smtClean="0"/>
              <a:pPr/>
              <a:t>3</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200" b="1" dirty="0"/>
              <a:t>System Model</a:t>
            </a:r>
          </a:p>
          <a:p>
            <a:pPr algn="l">
              <a:lnSpc>
                <a:spcPts val="1800"/>
              </a:lnSpc>
            </a:pPr>
            <a:r>
              <a:rPr lang="en-US" sz="1700" dirty="0"/>
              <a:t>An 8x8 NoC mesh (64 cores) partitioned into 4 clusters of 16 cores each. Task set: 32 tasks per step. Three task types: Critical/Safety (type 1, ASIL-D), Best-Effort (type 2), Background (type 3). Three driving modes with distinct DAG workloads.</a:t>
            </a:r>
          </a:p>
          <a:p>
            <a:pPr algn="l">
              <a:lnSpc>
                <a:spcPts val="1800"/>
              </a:lnSpc>
            </a:pPr>
            <a:r>
              <a:rPr lang="en-US" sz="2200" b="1" dirty="0"/>
              <a:t>Formal Problem Statement</a:t>
            </a:r>
          </a:p>
          <a:p>
            <a:pPr algn="l">
              <a:lnSpc>
                <a:spcPts val="1800"/>
              </a:lnSpc>
            </a:pPr>
            <a:r>
              <a:rPr lang="en-US" sz="1700" dirty="0"/>
              <a:t>Given: A communication DAG G = (T, E, W), core temperature vector, task types, and driving mode. Find: A mapping M: T -&gt; Cores that minimises the multi-objective cost function:</a:t>
            </a:r>
          </a:p>
          <a:p>
            <a:pPr algn="l">
              <a:lnSpc>
                <a:spcPts val="1800"/>
              </a:lnSpc>
            </a:pPr>
            <a:r>
              <a:rPr lang="en-US" sz="1800" b="1" dirty="0"/>
              <a:t>Cost(M) = w_hop * HopCost(M) + w_therm * ThermalPenalty(M) + w_safe * SafetyPenalty(M)</a:t>
            </a:r>
          </a:p>
          <a:p>
            <a:pPr algn="l">
              <a:lnSpc>
                <a:spcPts val="1800"/>
              </a:lnSpc>
            </a:pPr>
            <a:r>
              <a:rPr lang="en-US" sz="1700" dirty="0"/>
              <a:t>Subject to: (1) Each task assigned to exactly one core. (2) No two tasks share a core. (3) All safety-critical communicating pairs placed within 3 Manhattan hops (ISO 26262 proximity constraint). (4) No core exceeds 85 deg C thermal limit.</a:t>
            </a:r>
          </a:p>
        </p:txBody>
      </p:sp>
      <p:sp>
        <p:nvSpPr>
          <p:cNvPr id="3" name="Title 2"/>
          <p:cNvSpPr>
            <a:spLocks noGrp="1"/>
          </p:cNvSpPr>
          <p:nvPr>
            <p:ph type="title"/>
          </p:nvPr>
        </p:nvSpPr>
        <p:spPr/>
        <p:txBody>
          <a:bodyPr/>
          <a:lstStyle/>
          <a:p>
            <a:r>
              <a:rPr lang="en-US" dirty="0"/>
              <a:t>Problem Definition</a:t>
            </a:r>
          </a:p>
        </p:txBody>
      </p:sp>
      <p:sp>
        <p:nvSpPr>
          <p:cNvPr id="4" name="Slide Number Placeholder 3"/>
          <p:cNvSpPr>
            <a:spLocks noGrp="1"/>
          </p:cNvSpPr>
          <p:nvPr>
            <p:ph type="sldNum" sz="quarter" idx="12"/>
          </p:nvPr>
        </p:nvSpPr>
        <p:spPr/>
        <p:txBody>
          <a:bodyPr/>
          <a:lstStyle/>
          <a:p>
            <a:fld id="{330EA680-D336-4FF7-8B7A-9848BB0A1C04}" type="slidenum">
              <a:rPr lang="en-US" smtClean="0"/>
              <a:pPr/>
              <a:t>4</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200" b="1" dirty="0"/>
              <a:t>Primary Objectives</a:t>
            </a:r>
          </a:p>
          <a:p>
            <a:pPr algn="l">
              <a:lnSpc>
                <a:spcPts val="1800"/>
              </a:lnSpc>
            </a:pPr>
            <a:r>
              <a:rPr lang="en-US" sz="1800" dirty="0"/>
              <a:t>1.  Design a hierarchical two-level RL framework (zone selection + core selection) that decomposes the NP-hard NoC mapping problem into tractable sub-decisions.</a:t>
            </a:r>
          </a:p>
          <a:p>
            <a:pPr algn="l">
              <a:lnSpc>
                <a:spcPts val="1800"/>
              </a:lnSpc>
            </a:pPr>
            <a:r>
              <a:rPr lang="en-US" sz="1800" dirty="0"/>
              <a:t>2.  Implement a novel 20-state joint thermal+load encoder (5 load levels x 4 thermal levels) providing 2x state resolution over prior single-dimension approaches.</a:t>
            </a:r>
          </a:p>
          <a:p>
            <a:pPr algn="l">
              <a:lnSpc>
                <a:spcPts val="1800"/>
              </a:lnSpc>
            </a:pPr>
            <a:r>
              <a:rPr lang="en-US" sz="1800" dirty="0"/>
              <a:t>3.  Introduce the Safety Constraint Satisfaction Rate (SCSR) as a quantitative metric for ISO 26262 compliance in NoC task scheduling — not present in any prior work.</a:t>
            </a:r>
          </a:p>
          <a:p>
            <a:pPr algn="l">
              <a:lnSpc>
                <a:spcPts val="1800"/>
              </a:lnSpc>
            </a:pPr>
            <a:r>
              <a:rPr lang="en-US" sz="1800" dirty="0"/>
              <a:t>4.  Validate on a realistic 3-mode automotive workload (City / Highway / Parked) with dynamic DAG switching.</a:t>
            </a:r>
          </a:p>
          <a:p>
            <a:pPr algn="l">
              <a:lnSpc>
                <a:spcPts val="1800"/>
              </a:lnSpc>
            </a:pPr>
            <a:r>
              <a:rPr lang="en-US" sz="2200" b="1" dirty="0"/>
              <a:t>Secondary Objectives</a:t>
            </a:r>
          </a:p>
          <a:p>
            <a:pPr algn="l">
              <a:lnSpc>
                <a:spcPts val="1800"/>
              </a:lnSpc>
            </a:pPr>
            <a:r>
              <a:rPr lang="en-US" sz="1800" dirty="0"/>
              <a:t>5.  Demonstrate superiority over Q-Thermal [Ebrahimi 2020], TTQR [Liu 2022], FLEA [Weber 2025], Greedy NN, and Round-Robin baselines using a unified, fair reward function.</a:t>
            </a:r>
          </a:p>
          <a:p>
            <a:pPr algn="l">
              <a:lnSpc>
                <a:spcPts val="1800"/>
              </a:lnSpc>
            </a:pPr>
            <a:r>
              <a:rPr lang="en-US" sz="1800" dirty="0"/>
              <a:t>6.  Maintain zero thermal violations (all cores below 85 deg C) across all 1000 simulation steps.</a:t>
            </a:r>
          </a:p>
        </p:txBody>
      </p:sp>
      <p:sp>
        <p:nvSpPr>
          <p:cNvPr id="3" name="Title 2"/>
          <p:cNvSpPr>
            <a:spLocks noGrp="1"/>
          </p:cNvSpPr>
          <p:nvPr>
            <p:ph type="title"/>
          </p:nvPr>
        </p:nvSpPr>
        <p:spPr/>
        <p:txBody>
          <a:bodyPr/>
          <a:lstStyle/>
          <a:p>
            <a:r>
              <a:rPr lang="en-US" dirty="0"/>
              <a:t>Objectives</a:t>
            </a:r>
          </a:p>
        </p:txBody>
      </p:sp>
      <p:sp>
        <p:nvSpPr>
          <p:cNvPr id="4" name="Slide Number Placeholder 3"/>
          <p:cNvSpPr>
            <a:spLocks noGrp="1"/>
          </p:cNvSpPr>
          <p:nvPr>
            <p:ph type="sldNum" sz="quarter" idx="12"/>
          </p:nvPr>
        </p:nvSpPr>
        <p:spPr/>
        <p:txBody>
          <a:bodyPr/>
          <a:lstStyle/>
          <a:p>
            <a:fld id="{330EA680-D336-4FF7-8B7A-9848BB0A1C05}" type="slidenum">
              <a:rPr lang="en-US" smtClean="0"/>
              <a:pPr/>
              <a:t>5</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1800" b="1" dirty="0"/>
              <a:t>Method  |  Focus  |  Limitation vs HQ-Map</a:t>
            </a:r>
          </a:p>
          <a:p>
            <a:pPr algn="l">
              <a:lnSpc>
                <a:spcPts val="1800"/>
              </a:lnSpc>
            </a:pPr>
            <a:r>
              <a:rPr lang="en-US" sz="1600" dirty="0"/>
              <a:t>Q-Thermal [Ebrahimi, IEEE Trans. VLSI, 2020]  |  Thermal-aware Q-routing for 3D NoC  |  Routing only (not task placement); no safety constraint; thermal state only</a:t>
            </a:r>
          </a:p>
          <a:p>
            <a:pPr algn="l">
              <a:lnSpc>
                <a:spcPts val="1800"/>
              </a:lnSpc>
            </a:pPr>
            <a:r>
              <a:rPr lang="en-US" sz="1600" dirty="0"/>
              <a:t>TTQR [Liu, Sensors, 2022]  |  Traffic + thermal Q-routing with 2 Q-tables  |  Routing only; no load-balance dimension in state; no automotive context</a:t>
            </a:r>
          </a:p>
          <a:p>
            <a:pPr algn="l">
              <a:lnSpc>
                <a:spcPts val="1800"/>
              </a:lnSpc>
            </a:pPr>
            <a:r>
              <a:rPr lang="en-US" sz="1600" dirty="0"/>
              <a:t>FLEA [Weber, Des. Autom. Embedded Syst., 2025]  |  Flat Q-learning for task placement with FIT monitoring  |  Single-level flat Q-table; no zone hierarchy; no safety proximity constraint</a:t>
            </a:r>
          </a:p>
          <a:p>
            <a:pPr algn="l">
              <a:lnSpc>
                <a:spcPts val="1800"/>
              </a:lnSpc>
            </a:pPr>
            <a:r>
              <a:rPr lang="en-US" sz="1600" dirty="0"/>
              <a:t>Greedy NN [Srinivasan, 2007]  |  Nearest-neighbour communication-cost heuristic  |  Static, non-adaptive; no thermal awareness; no learning</a:t>
            </a:r>
          </a:p>
          <a:p>
            <a:pPr algn="l">
              <a:lnSpc>
                <a:spcPts val="1800"/>
              </a:lnSpc>
            </a:pPr>
            <a:r>
              <a:rPr lang="en-US" sz="1600" dirty="0"/>
              <a:t>ACAPS [Chen, 2023]  |  Actor-Critic for NoC routing  |  No automotive driving-mode context; no ASIL-D constraint</a:t>
            </a:r>
          </a:p>
          <a:p>
            <a:pPr algn="l">
              <a:lnSpc>
                <a:spcPts val="1800"/>
              </a:lnSpc>
            </a:pPr>
            <a:r>
              <a:rPr lang="en-US" sz="2000" b="1" dirty="0"/>
              <a:t>Key Research Gap</a:t>
            </a:r>
          </a:p>
          <a:p>
            <a:pPr algn="l">
              <a:lnSpc>
                <a:spcPts val="1800"/>
              </a:lnSpc>
            </a:pPr>
            <a:r>
              <a:rPr lang="en-US" sz="1700" dirty="0"/>
              <a:t>No existing work simultaneously addresses: (1) driving-mode-aware workload switching, (2) safety-critical proximity constraints, and (3) hierarchical RL placement on a real automotive NoC topology.</a:t>
            </a:r>
          </a:p>
        </p:txBody>
      </p:sp>
      <p:sp>
        <p:nvSpPr>
          <p:cNvPr id="3" name="Title 2"/>
          <p:cNvSpPr>
            <a:spLocks noGrp="1"/>
          </p:cNvSpPr>
          <p:nvPr>
            <p:ph type="title"/>
          </p:nvPr>
        </p:nvSpPr>
        <p:spPr/>
        <p:txBody>
          <a:bodyPr/>
          <a:lstStyle/>
          <a:p>
            <a:r>
              <a:rPr lang="en-US" dirty="0"/>
              <a:t>Literature Review Summary</a:t>
            </a:r>
          </a:p>
        </p:txBody>
      </p:sp>
      <p:sp>
        <p:nvSpPr>
          <p:cNvPr id="4" name="Slide Number Placeholder 3"/>
          <p:cNvSpPr>
            <a:spLocks noGrp="1"/>
          </p:cNvSpPr>
          <p:nvPr>
            <p:ph type="sldNum" sz="quarter" idx="12"/>
          </p:nvPr>
        </p:nvSpPr>
        <p:spPr/>
        <p:txBody>
          <a:bodyPr/>
          <a:lstStyle/>
          <a:p>
            <a:fld id="{330EA680-D336-4FF7-8B7A-9848BB0A1C06}" type="slidenum">
              <a:rPr lang="en-US" smtClean="0"/>
              <a:pPr/>
              <a:t>6</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200" b="1" dirty="0"/>
              <a:t>What Exists</a:t>
            </a:r>
          </a:p>
          <a:p>
            <a:pPr algn="l">
              <a:lnSpc>
                <a:spcPts val="1800"/>
              </a:lnSpc>
            </a:pPr>
            <a:r>
              <a:rPr lang="en-US" sz="1700" dirty="0"/>
              <a:t>Thermal-aware routing (Q-Thermal, TTQR) -- these work at the packet level, not task placement level. Task placement RL (FLEA) -- single Q-table, no hierarchy, no safety constraint. ADAS scheduling (ACAPS) -- no NoC topology, no thermal model, no mode switching.</a:t>
            </a:r>
          </a:p>
          <a:p>
            <a:pPr algn="l">
              <a:lnSpc>
                <a:spcPts val="1800"/>
              </a:lnSpc>
            </a:pPr>
            <a:r>
              <a:rPr lang="en-US" sz="2200" b="1" dirty="0"/>
              <a:t>What is Missing</a:t>
            </a:r>
          </a:p>
          <a:p>
            <a:pPr algn="l">
              <a:lnSpc>
                <a:spcPts val="1800"/>
              </a:lnSpc>
            </a:pPr>
            <a:r>
              <a:rPr lang="en-US" sz="1800" dirty="0"/>
              <a:t>1.  Driving-mode context in RL state: no prior work models City/Highway/Parked DAG transitions inside the Q-table update.</a:t>
            </a:r>
          </a:p>
          <a:p>
            <a:pPr algn="l">
              <a:lnSpc>
                <a:spcPts val="1800"/>
              </a:lnSpc>
            </a:pPr>
            <a:r>
              <a:rPr lang="en-US" sz="1800" dirty="0"/>
              <a:t>2.  ASIL-D safety proximity as a co-optimised reward term: prior work treats latency and thermal independently.</a:t>
            </a:r>
          </a:p>
          <a:p>
            <a:pPr algn="l">
              <a:lnSpc>
                <a:spcPts val="1800"/>
              </a:lnSpc>
            </a:pPr>
            <a:r>
              <a:rPr lang="en-US" sz="1800" dirty="0"/>
              <a:t>3.  Two-level hierarchical decomposition (zone then core): existing flat Q-tables have exponential state-action spaces for 64-core systems.</a:t>
            </a:r>
          </a:p>
          <a:p>
            <a:pPr algn="l">
              <a:lnSpc>
                <a:spcPts val="1800"/>
              </a:lnSpc>
            </a:pPr>
            <a:r>
              <a:rPr lang="en-US" sz="1800" dirty="0"/>
              <a:t>4.  SCSR metric: no standard safety quantification exists for NoC task scheduling.</a:t>
            </a:r>
          </a:p>
          <a:p>
            <a:pPr algn="l">
              <a:lnSpc>
                <a:spcPts val="1800"/>
              </a:lnSpc>
            </a:pPr>
            <a:r>
              <a:rPr lang="en-US" sz="1800" b="1" dirty="0"/>
              <a:t>HQ-Map fills all four gaps simultaneously. The combination is the novelty, not any single ingredient.</a:t>
            </a:r>
          </a:p>
        </p:txBody>
      </p:sp>
      <p:sp>
        <p:nvSpPr>
          <p:cNvPr id="3" name="Title 2"/>
          <p:cNvSpPr>
            <a:spLocks noGrp="1"/>
          </p:cNvSpPr>
          <p:nvPr>
            <p:ph type="title"/>
          </p:nvPr>
        </p:nvSpPr>
        <p:spPr/>
        <p:txBody>
          <a:bodyPr/>
          <a:lstStyle/>
          <a:p>
            <a:r>
              <a:rPr lang="en-US" dirty="0"/>
              <a:t>Research Gap</a:t>
            </a:r>
          </a:p>
        </p:txBody>
      </p:sp>
      <p:sp>
        <p:nvSpPr>
          <p:cNvPr id="4" name="Slide Number Placeholder 3"/>
          <p:cNvSpPr>
            <a:spLocks noGrp="1"/>
          </p:cNvSpPr>
          <p:nvPr>
            <p:ph type="sldNum" sz="quarter" idx="12"/>
          </p:nvPr>
        </p:nvSpPr>
        <p:spPr/>
        <p:txBody>
          <a:bodyPr/>
          <a:lstStyle/>
          <a:p>
            <a:fld id="{330EA680-D336-4FF7-8B7A-9848BB0A1C07}" type="slidenum">
              <a:rPr lang="en-US" smtClean="0"/>
              <a:pPr/>
              <a:t>7</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200" b="1" dirty="0"/>
              <a:t>Simulation Environment</a:t>
            </a:r>
          </a:p>
          <a:p>
            <a:pPr algn="l">
              <a:lnSpc>
                <a:spcPts val="1800"/>
              </a:lnSpc>
            </a:pPr>
            <a:r>
              <a:rPr lang="en-US" sz="1700" dirty="0"/>
              <a:t>Platform: 8x8 2D mesh NoC, 64 cores, 4 clusters of 16 cores each. Tasks: 32 tasks per step over 1000 simulation steps (300 City + 400 Highway + 300 Parked). Implemented in Octave 8.x (fully compatible, no MATLAB toolboxes required).</a:t>
            </a:r>
          </a:p>
          <a:p>
            <a:pPr algn="l">
              <a:lnSpc>
                <a:spcPts val="1800"/>
              </a:lnSpc>
            </a:pPr>
            <a:r>
              <a:rPr lang="en-US" sz="2200" b="1" dirty="0"/>
              <a:t>Workload Profiles (DAG per mode)</a:t>
            </a:r>
          </a:p>
          <a:p>
            <a:pPr algn="l">
              <a:lnSpc>
                <a:spcPts val="1800"/>
              </a:lnSpc>
            </a:pPr>
            <a:r>
              <a:rPr lang="en-US" sz="1700" dirty="0"/>
              <a:t>City Mode (steps 1-300): 8 critical ADAS tasks (single pipeline, 50-10 BW), 11 best-effort Nav/V2X, 13 background OS tasks.</a:t>
            </a:r>
          </a:p>
          <a:p>
            <a:pPr algn="l">
              <a:lnSpc>
                <a:spcPts val="1800"/>
              </a:lnSpc>
            </a:pPr>
            <a:r>
              <a:rPr lang="en-US" sz="1700" dirty="0"/>
              <a:t>Highway Mode (steps 301-700): 15 critical tasks across 3 pipelines (Camera 100 BW, Lidar 100 BW, Radar 80 BW) feeding fusion node; 11 critical communicating pairs. Hardest mode.</a:t>
            </a:r>
          </a:p>
          <a:p>
            <a:pPr algn="l">
              <a:lnSpc>
                <a:spcPts val="1800"/>
              </a:lnSpc>
            </a:pPr>
            <a:r>
              <a:rPr lang="en-US" sz="1700" dirty="0"/>
              <a:t>Parked Mode (steps 701-1000): 10 best-effort infotainment (4K video decode 120 BW), 2 critical alarm tasks, 16 background tasks.</a:t>
            </a:r>
          </a:p>
          <a:p>
            <a:pPr algn="l">
              <a:lnSpc>
                <a:spcPts val="1800"/>
              </a:lnSpc>
            </a:pPr>
            <a:r>
              <a:rPr lang="en-US" sz="1700" dirty="0"/>
              <a:t>Thermal Parameters: Ambient 45 deg C, limit 85 deg C, warning 75 deg C. Heat: Critical +6 deg C, Best-Effort +3 deg C, Background +1.5 deg C per step. Cooling: 25% dissipation per step.</a:t>
            </a:r>
          </a:p>
        </p:txBody>
      </p:sp>
      <p:sp>
        <p:nvSpPr>
          <p:cNvPr id="3" name="Title 2"/>
          <p:cNvSpPr>
            <a:spLocks noGrp="1"/>
          </p:cNvSpPr>
          <p:nvPr>
            <p:ph type="title"/>
          </p:nvPr>
        </p:nvSpPr>
        <p:spPr/>
        <p:txBody>
          <a:bodyPr/>
          <a:lstStyle/>
          <a:p>
            <a:r>
              <a:rPr lang="en-US" dirty="0"/>
              <a:t>Dataset Description</a:t>
            </a:r>
          </a:p>
        </p:txBody>
      </p:sp>
      <p:sp>
        <p:nvSpPr>
          <p:cNvPr id="4" name="Slide Number Placeholder 3"/>
          <p:cNvSpPr>
            <a:spLocks noGrp="1"/>
          </p:cNvSpPr>
          <p:nvPr>
            <p:ph type="sldNum" sz="quarter" idx="12"/>
          </p:nvPr>
        </p:nvSpPr>
        <p:spPr/>
        <p:txBody>
          <a:bodyPr/>
          <a:lstStyle/>
          <a:p>
            <a:fld id="{330EA680-D336-4FF7-8B7A-9848BB0A1C08}" type="slidenum">
              <a:rPr lang="en-US" smtClean="0"/>
              <a:pPr/>
              <a:t>8</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200" b="1" dirty="0"/>
              <a:t>HQ-Map Framework Overview</a:t>
            </a:r>
          </a:p>
          <a:p>
            <a:pPr algn="l">
              <a:lnSpc>
                <a:spcPts val="1800"/>
              </a:lnSpc>
            </a:pPr>
            <a:r>
              <a:rPr lang="en-US" sz="1700" dirty="0"/>
              <a:t>HQ-Map uses hierarchical TD(0) Q-learning with two decision levels executed per task cluster at each simulation step:</a:t>
            </a:r>
          </a:p>
          <a:p>
            <a:pPr algn="l">
              <a:lnSpc>
                <a:spcPts val="1800"/>
              </a:lnSpc>
            </a:pPr>
            <a:r>
              <a:rPr lang="en-US" sz="1800" dirty="0"/>
              <a:t>Level 1 -- Coarse (Zone Selection): Q-table [20 states x 4 zones]. Agent selects which NoC quadrant to place the current task cluster. State: joint thermal+load index (1..20).</a:t>
            </a:r>
          </a:p>
          <a:p>
            <a:pPr algn="l">
              <a:lnSpc>
                <a:spcPts val="1800"/>
              </a:lnSpc>
            </a:pPr>
            <a:r>
              <a:rPr lang="en-US" sz="1800" dirty="0"/>
              <a:t>Level 2 -- Fine (Core Selection): Q-table [20 states x 16 cores]. Agent selects specific core within chosen zone. State: zone occupancy level (1..20).</a:t>
            </a:r>
          </a:p>
          <a:p>
            <a:pPr algn="l">
              <a:lnSpc>
                <a:spcPts val="1800"/>
              </a:lnSpc>
            </a:pPr>
            <a:r>
              <a:rPr lang="en-US" sz="2000" b="1" dirty="0"/>
              <a:t>TD(0) Bellman Update (corrected from bandit to true RL):</a:t>
            </a:r>
          </a:p>
          <a:p>
            <a:pPr algn="l">
              <a:lnSpc>
                <a:spcPts val="1800"/>
              </a:lnSpc>
            </a:pPr>
            <a:r>
              <a:rPr lang="en-US" sz="1800" b="1" dirty="0"/>
              <a:t>Q(s,a) = Q(s,a) + alpha * [r + gamma * maxQ(s_next) - Q(s,a)]</a:t>
            </a:r>
          </a:p>
          <a:p>
            <a:pPr algn="l">
              <a:lnSpc>
                <a:spcPts val="1800"/>
              </a:lnSpc>
            </a:pPr>
            <a:r>
              <a:rPr lang="en-US" sz="1700" dirty="0"/>
              <a:t>Key innovations: (1) Spectral graph-cut clustering with 5x edge boost for critical tasks. (2) epsilon-decay 0.9935 reaching min=0.05 at step ~354 (agent exploits from mid-Highway). (3) All decisions are Octave-native, no toolbox dependencies.</a:t>
            </a:r>
          </a:p>
        </p:txBody>
      </p:sp>
      <p:sp>
        <p:nvSpPr>
          <p:cNvPr id="3" name="Title 2"/>
          <p:cNvSpPr>
            <a:spLocks noGrp="1"/>
          </p:cNvSpPr>
          <p:nvPr>
            <p:ph type="title"/>
          </p:nvPr>
        </p:nvSpPr>
        <p:spPr/>
        <p:txBody>
          <a:bodyPr/>
          <a:lstStyle/>
          <a:p>
            <a:r>
              <a:rPr lang="en-US" dirty="0"/>
              <a:t>Methodology / Proposed Method</a:t>
            </a:r>
          </a:p>
        </p:txBody>
      </p:sp>
      <p:sp>
        <p:nvSpPr>
          <p:cNvPr id="4" name="Slide Number Placeholder 3"/>
          <p:cNvSpPr>
            <a:spLocks noGrp="1"/>
          </p:cNvSpPr>
          <p:nvPr>
            <p:ph type="sldNum" sz="quarter" idx="12"/>
          </p:nvPr>
        </p:nvSpPr>
        <p:spPr/>
        <p:txBody>
          <a:bodyPr/>
          <a:lstStyle/>
          <a:p>
            <a:fld id="{330EA680-D336-4FF7-8B7A-9848BB0A1C09}" type="slidenum">
              <a:rPr lang="en-US" smtClean="0"/>
              <a:pPr/>
              <a:t>9</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200" b="1" dirty="0"/>
              <a:t>System Architecture</a:t>
            </a:r>
          </a:p>
          <a:p>
            <a:pPr algn="l">
              <a:lnSpc>
                <a:spcPts val="1800"/>
              </a:lnSpc>
            </a:pPr>
            <a:r>
              <a:rPr lang="en-US" sz="1700" dirty="0"/>
              <a:t>Input Layer: get_vehicle_workload() generates mode-specific DAG (comm_matrix + task_types). cluster_tasks() partitions 32 tasks into 4 groups using spectral Laplacian clustering with critical-task co-location bias.</a:t>
            </a:r>
          </a:p>
          <a:p>
            <a:pPr algn="l">
              <a:lnSpc>
                <a:spcPts val="1800"/>
              </a:lnSpc>
            </a:pPr>
            <a:r>
              <a:rPr lang="en-US" sz="1700" dirty="0"/>
              <a:t>RL Decision Core: run_online_episode() executes hierarchical placement. For each cluster: (1) coarse Q-table selects zone; (2) fine Q-table selects core. Collision handling with zone-local fallback then global fallback.</a:t>
            </a:r>
          </a:p>
          <a:p>
            <a:pPr algn="l">
              <a:lnSpc>
                <a:spcPts val="1800"/>
              </a:lnSpc>
            </a:pPr>
            <a:r>
              <a:rPr lang="en-US" sz="1700" dirty="0"/>
              <a:t>Reward Computation: compute_reward_p2() evaluates: hop cost (normalised by max possible), thermal penalty (linear 75-85 deg C, quadratic above), safety penalty (fraction of critical pairs &gt;3 hops apart). Weights: w_hop=0.5, w_therm=1.0, w_safe=2.0, bonus=+2.0.</a:t>
            </a:r>
          </a:p>
          <a:p>
            <a:pPr algn="l">
              <a:lnSpc>
                <a:spcPts val="1800"/>
              </a:lnSpc>
            </a:pPr>
            <a:r>
              <a:rPr lang="en-US" sz="1700" dirty="0"/>
              <a:t>State Encoder: get_state_p2() maps (mapping, temps) to index 1..20 via 2D grid: 5 load levels (cluster std-dev) x 4 thermal levels (normalised peak temp).</a:t>
            </a:r>
          </a:p>
          <a:p>
            <a:pPr algn="l">
              <a:lnSpc>
                <a:spcPts val="1800"/>
              </a:lnSpc>
            </a:pPr>
            <a:r>
              <a:rPr lang="en-US" sz="1700" dirty="0"/>
              <a:t>Output: SCSR metric (compute_scsr.m), performance plots (5-panel + NoC heatmaps), comparison table (Table I).</a:t>
            </a:r>
          </a:p>
        </p:txBody>
      </p:sp>
      <p:sp>
        <p:nvSpPr>
          <p:cNvPr id="3" name="Title 2"/>
          <p:cNvSpPr>
            <a:spLocks noGrp="1"/>
          </p:cNvSpPr>
          <p:nvPr>
            <p:ph type="title"/>
          </p:nvPr>
        </p:nvSpPr>
        <p:spPr/>
        <p:txBody>
          <a:bodyPr/>
          <a:lstStyle/>
          <a:p>
            <a:r>
              <a:rPr lang="en-US" dirty="0"/>
              <a:t>Design / Architecture</a:t>
            </a:r>
          </a:p>
        </p:txBody>
      </p:sp>
      <p:sp>
        <p:nvSpPr>
          <p:cNvPr id="4" name="Slide Number Placeholder 3"/>
          <p:cNvSpPr>
            <a:spLocks noGrp="1"/>
          </p:cNvSpPr>
          <p:nvPr>
            <p:ph type="sldNum" sz="quarter" idx="12"/>
          </p:nvPr>
        </p:nvSpPr>
        <p:spPr/>
        <p:txBody>
          <a:bodyPr/>
          <a:lstStyle/>
          <a:p>
            <a:fld id="{330EA680-D336-4FF7-8B7A-9848BB0A1C10}" type="slidenum">
              <a:rPr lang="en-US" smtClean="0"/>
              <a:pPr/>
              <a:t>10</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200" b="1" dirty="0"/>
              <a:t>Algorithm 1: HQ-Map Episode (run_online_episode.m)</a:t>
            </a:r>
          </a:p>
          <a:p>
            <a:pPr algn="l">
              <a:lnSpc>
                <a:spcPts val="1800"/>
              </a:lnSpc>
            </a:pPr>
            <a:r>
              <a:rPr lang="en-US" sz="1600" dirty="0"/>
              <a:t>Input: comm_matrix, task_clusters, task_types, core_temps, coarse_Q, fine_Q, alpha, gamma, epsilon</a:t>
            </a:r>
          </a:p>
          <a:p>
            <a:pPr algn="l">
              <a:lnSpc>
                <a:spcPts val="1800"/>
              </a:lnSpc>
            </a:pPr>
            <a:r>
              <a:rPr lang="en-US" sz="1700" dirty="0"/>
              <a:t>1. For each cluster tc = 1..4:</a:t>
            </a:r>
          </a:p>
          <a:p>
            <a:pPr algn="l">
              <a:lnSpc>
                <a:spcPts val="1800"/>
              </a:lnSpc>
            </a:pPr>
            <a:r>
              <a:rPr lang="en-US" sz="1600" dirty="0"/>
              <a:t xml:space="preserve">   a. s_coarse = get_state_p2(mapping, core_temps)  [1..20]</a:t>
            </a:r>
          </a:p>
          <a:p>
            <a:pPr algn="l">
              <a:lnSpc>
                <a:spcPts val="1800"/>
              </a:lnSpc>
            </a:pPr>
            <a:r>
              <a:rPr lang="en-US" sz="1600" dirty="0"/>
              <a:t xml:space="preserve">   b. zone = epsilon-greedy argmax over coarse_Q[s_coarse, :]</a:t>
            </a:r>
          </a:p>
          <a:p>
            <a:pPr algn="l">
              <a:lnSpc>
                <a:spcPts val="1800"/>
              </a:lnSpc>
            </a:pPr>
            <a:r>
              <a:rPr lang="en-US" sz="1600" dirty="0"/>
              <a:t xml:space="preserve">   c. For each task in cluster: s_fine = occupancy; core = epsilon-greedy argmax over fine_Q[s_fine, 1:n_avail]; handle collision; map task to core</a:t>
            </a:r>
          </a:p>
          <a:p>
            <a:pPr algn="l">
              <a:lnSpc>
                <a:spcPts val="1800"/>
              </a:lnSpc>
            </a:pPr>
            <a:r>
              <a:rPr lang="en-US" sz="1700" dirty="0"/>
              <a:t>2. Compute reward = compute_reward_p2(mapping, ...)</a:t>
            </a:r>
          </a:p>
          <a:p>
            <a:pPr algn="l">
              <a:lnSpc>
                <a:spcPts val="1800"/>
              </a:lnSpc>
            </a:pPr>
            <a:r>
              <a:rPr lang="en-US" sz="1700" dirty="0"/>
              <a:t>3. TD update for all (s, a, s') pairs: Q(s,a) += alpha*(reward + gamma*max(Q(s',:)) - Q(s,a))</a:t>
            </a:r>
          </a:p>
          <a:p>
            <a:pPr algn="l">
              <a:lnSpc>
                <a:spcPts val="1800"/>
              </a:lnSpc>
            </a:pPr>
            <a:r>
              <a:rPr lang="en-US" sz="2200" b="1" dirty="0"/>
              <a:t>Algorithm 2: Spectral Clustering (cluster_tasks.m)</a:t>
            </a:r>
          </a:p>
          <a:p>
            <a:pPr algn="l">
              <a:lnSpc>
                <a:spcPts val="1800"/>
              </a:lnSpc>
            </a:pPr>
            <a:r>
              <a:rPr lang="en-US" sz="1600" dirty="0"/>
              <a:t>1. Symmetrise W = comm_matrix + comm_matrix'. Boost W(i,j) x5 if both i,j are critical. 2. Compute normalised Laplacian L = I - D^{-1/2} W D^{-1/2}. 3. Extract k=4 smallest eigenvectors; row-normalise. 4. Greedy k-means on embedding. 5. Balance clusters (prefer moving non-critical tasks).</a:t>
            </a:r>
          </a:p>
        </p:txBody>
      </p:sp>
      <p:sp>
        <p:nvSpPr>
          <p:cNvPr id="3" name="Title 2"/>
          <p:cNvSpPr>
            <a:spLocks noGrp="1"/>
          </p:cNvSpPr>
          <p:nvPr>
            <p:ph type="title"/>
          </p:nvPr>
        </p:nvSpPr>
        <p:spPr/>
        <p:txBody>
          <a:bodyPr/>
          <a:lstStyle/>
          <a:p>
            <a:r>
              <a:rPr lang="en-US" dirty="0"/>
              <a:t>Algorithms</a:t>
            </a:r>
          </a:p>
        </p:txBody>
      </p:sp>
      <p:sp>
        <p:nvSpPr>
          <p:cNvPr id="4" name="Slide Number Placeholder 3"/>
          <p:cNvSpPr>
            <a:spLocks noGrp="1"/>
          </p:cNvSpPr>
          <p:nvPr>
            <p:ph type="sldNum" sz="quarter" idx="12"/>
          </p:nvPr>
        </p:nvSpPr>
        <p:spPr/>
        <p:txBody>
          <a:bodyPr/>
          <a:lstStyle/>
          <a:p>
            <a:fld id="{330EA680-D336-4FF7-8B7A-9848BB0A1C11}" type="slidenum">
              <a:rPr lang="en-US" smtClean="0"/>
              <a:pPr/>
              <a:t>11</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000" b="1" dirty="0"/>
              <a:t>1. Average Reward (primary)</a:t>
            </a:r>
          </a:p>
          <a:p>
            <a:pPr algn="l">
              <a:lnSpc>
                <a:spcPts val="1800"/>
              </a:lnSpc>
            </a:pPr>
            <a:r>
              <a:rPr lang="en-US" sz="1700" dirty="0"/>
              <a:t>Unified multi-objective score per step. Range: ~-4.75 (worst) to +2.0 (best). Positive reward = good mapping. Weights balance all three automotive objectives.</a:t>
            </a:r>
          </a:p>
          <a:p>
            <a:pPr algn="l">
              <a:lnSpc>
                <a:spcPts val="1800"/>
              </a:lnSpc>
            </a:pPr>
            <a:r>
              <a:rPr lang="en-US" sz="2000" b="1" dirty="0"/>
              <a:t>2. Safety Constraint Satisfaction Rate -- SCSR (novel)</a:t>
            </a:r>
          </a:p>
          <a:p>
            <a:pPr algn="l">
              <a:lnSpc>
                <a:spcPts val="1800"/>
              </a:lnSpc>
            </a:pPr>
            <a:r>
              <a:rPr lang="en-US" sz="1700" dirty="0"/>
              <a:t>Fraction of critical task communicating pairs placed within 3 Manhattan hops. SCSR = satisfied_pairs / total_critical_pairs. SCSR=1.0 is ideal (all ASIL-D constraints met). Not present in Q-Thermal, TTQR, or FLEA.</a:t>
            </a:r>
          </a:p>
          <a:p>
            <a:pPr algn="l">
              <a:lnSpc>
                <a:spcPts val="1800"/>
              </a:lnSpc>
            </a:pPr>
            <a:r>
              <a:rPr lang="en-US" sz="2000" b="1" dirty="0"/>
              <a:t>3. Max Core Temperature (deg C)</a:t>
            </a:r>
          </a:p>
          <a:p>
            <a:pPr algn="l">
              <a:lnSpc>
                <a:spcPts val="1800"/>
              </a:lnSpc>
            </a:pPr>
            <a:r>
              <a:rPr lang="en-US" sz="1700" dirty="0"/>
              <a:t>Peak temperature across all 64 cores per step. Hard limit: 85 deg C. Warning: 75 deg C. Zero violations = perfect thermal safety.</a:t>
            </a:r>
          </a:p>
          <a:p>
            <a:pPr algn="l">
              <a:lnSpc>
                <a:spcPts val="1800"/>
              </a:lnSpc>
            </a:pPr>
            <a:r>
              <a:rPr lang="en-US" sz="2000" b="1" dirty="0"/>
              <a:t>4. Average Communication Latency</a:t>
            </a:r>
          </a:p>
          <a:p>
            <a:pPr algn="l">
              <a:lnSpc>
                <a:spcPts val="1800"/>
              </a:lnSpc>
            </a:pPr>
            <a:r>
              <a:rPr lang="en-US" sz="1700" dirty="0"/>
              <a:t>Weighted sum of hop counts across all communicating task pairs: sum(dist(i,j) x BW(i,j)). Lower is better.</a:t>
            </a:r>
          </a:p>
          <a:p>
            <a:pPr algn="l">
              <a:lnSpc>
                <a:spcPts val="1800"/>
              </a:lnSpc>
            </a:pPr>
            <a:r>
              <a:rPr lang="en-US" sz="2000" b="1" dirty="0"/>
              <a:t>5. Cluster Load Balance (std-dev)</a:t>
            </a:r>
          </a:p>
          <a:p>
            <a:pPr algn="l">
              <a:lnSpc>
                <a:spcPts val="1800"/>
              </a:lnSpc>
            </a:pPr>
            <a:r>
              <a:rPr lang="en-US" sz="1700" dirty="0"/>
              <a:t>Standard deviation of task count across 4 clusters. Lower = more balanced. Std=0 is perfect balance.</a:t>
            </a:r>
          </a:p>
        </p:txBody>
      </p:sp>
      <p:sp>
        <p:nvSpPr>
          <p:cNvPr id="3" name="Title 2"/>
          <p:cNvSpPr>
            <a:spLocks noGrp="1"/>
          </p:cNvSpPr>
          <p:nvPr>
            <p:ph type="title"/>
          </p:nvPr>
        </p:nvSpPr>
        <p:spPr/>
        <p:txBody>
          <a:bodyPr/>
          <a:lstStyle/>
          <a:p>
            <a:r>
              <a:rPr lang="en-US" dirty="0"/>
              <a:t>Evaluation Metrics</a:t>
            </a:r>
          </a:p>
        </p:txBody>
      </p:sp>
      <p:sp>
        <p:nvSpPr>
          <p:cNvPr id="4" name="Slide Number Placeholder 3"/>
          <p:cNvSpPr>
            <a:spLocks noGrp="1"/>
          </p:cNvSpPr>
          <p:nvPr>
            <p:ph type="sldNum" sz="quarter" idx="12"/>
          </p:nvPr>
        </p:nvSpPr>
        <p:spPr/>
        <p:txBody>
          <a:bodyPr/>
          <a:lstStyle/>
          <a:p>
            <a:fld id="{330EA680-D336-4FF7-8B7A-9848BB0A1C12}" type="slidenum">
              <a:rPr lang="en-US" smtClean="0"/>
              <a:pPr/>
              <a:t>12</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Result Analysis</a:t>
            </a:r>
          </a:p>
        </p:txBody>
      </p:sp>
      <p:pic>
        <p:nvPicPr>
          <p:cNvPr id="10" name="CompTable"/>
          <p:cNvPicPr>
            <a:picLocks noChangeAspect="1"/>
          </p:cNvPicPr>
          <p:nvPr/>
        </p:nvPicPr>
        <p:blipFill>
          <a:blip r:embed="rId3"/>
          <a:stretch>
            <a:fillRect/>
          </a:stretch>
        </p:blipFill>
        <p:spPr>
          <a:xfrm>
            <a:off x="571499" y="1137256"/>
            <a:ext cx="11209376" cy="1570586"/>
          </a:xfrm>
          <a:prstGeom prst="rect">
            <a:avLst/>
          </a:prstGeom>
        </p:spPr>
      </p:pic>
      <p:pic>
        <p:nvPicPr>
          <p:cNvPr id="11" name="PerfPlot"/>
          <p:cNvPicPr>
            <a:picLocks noChangeAspect="1"/>
          </p:cNvPicPr>
          <p:nvPr/>
        </p:nvPicPr>
        <p:blipFill>
          <a:blip r:embed="rId4"/>
          <a:stretch>
            <a:fillRect/>
          </a:stretch>
        </p:blipFill>
        <p:spPr>
          <a:xfrm>
            <a:off x="571499" y="2767842"/>
            <a:ext cx="4707937" cy="3257496"/>
          </a:xfrm>
          <a:prstGeom prst="rect">
            <a:avLst/>
          </a:prstGeom>
        </p:spPr>
      </p:pic>
      <p:pic>
        <p:nvPicPr>
          <p:cNvPr id="12" name="CompResults"/>
          <p:cNvPicPr>
            <a:picLocks noChangeAspect="1"/>
          </p:cNvPicPr>
          <p:nvPr/>
        </p:nvPicPr>
        <p:blipFill>
          <a:blip r:embed="rId2"/>
          <a:stretch>
            <a:fillRect/>
          </a:stretch>
        </p:blipFill>
        <p:spPr>
          <a:xfrm>
            <a:off x="5339436" y="2767842"/>
            <a:ext cx="6441439" cy="3257496"/>
          </a:xfrm>
          <a:prstGeom prst="rect">
            <a:avLst/>
          </a:prstGeom>
        </p:spPr>
      </p:pic>
      <p:sp>
        <p:nvSpPr>
          <p:cNvPr id="4" name="Slide Number Placeholder 3"/>
          <p:cNvSpPr>
            <a:spLocks noGrp="1"/>
          </p:cNvSpPr>
          <p:nvPr>
            <p:ph type="sldNum" sz="quarter" idx="12"/>
          </p:nvPr>
        </p:nvSpPr>
        <p:spPr/>
        <p:txBody>
          <a:bodyPr/>
          <a:lstStyle/>
          <a:p>
            <a:fld id="{330EA680-D336-4FF7-8B7A-9848BB0A1C13}" type="slidenum">
              <a:rPr lang="en-US" smtClean="0"/>
              <a:pPr/>
              <a:t>13</a:t>
            </a:fld>
          </a:p>
        </p:txBody>
      </p:sp>
      <p:sp>
        <p:nvSpPr>
          <p:cNvPr id="6" name="Footer"/>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p:nvPr>
        </p:nvSpPr>
        <p:spPr/>
        <p:txBody>
          <a:bodyPr/>
          <a:lstStyle/>
          <a:p>
            <a:r>
              <a:rPr lang="en-US" dirty="0"/>
              <a:t>Alignment with SDG Goals</a:t>
            </a:r>
          </a:p>
        </p:txBody>
      </p:sp>
      <p:sp>
        <p:nvSpPr>
          <p:cNvPr id="20" name="Subtitle"/>
          <p:cNvSpPr txBox="1"/>
          <p:nvPr/>
        </p:nvSpPr>
        <p:spPr>
          <a:xfrm>
            <a:off x="571499" y="1137256"/>
            <a:ext cx="11209376" cy="320000"/>
          </a:xfrm>
          <a:prstGeom prst="rect">
            <a:avLst/>
          </a:prstGeom>
          <a:noFill/>
        </p:spPr>
        <p:txBody>
          <a:bodyPr wrap="square" lIns="91440" tIns="0" rIns="91440" bIns="0" rtlCol="0" anchor="ctr"/>
          <a:lstStyle/>
          <a:p>
            <a:pPr algn="ctr"/>
            <a:r>
              <a:rPr lang="en-US" sz="1400" i="1" dirty="0">
                <a:solidFill>
                  <a:srgbClr val="555555"/>
                </a:solidFill>
              </a:rPr>
              <a:t>Table 1: SDG Alignment of the HQ-Map Project</a:t>
            </a:r>
          </a:p>
        </p:txBody>
      </p:sp>
      <p:sp>
        <p:nvSpPr>
          <p:cNvPr id="30" name="HeaderBg"/>
          <p:cNvSpPr/>
          <p:nvPr/>
        </p:nvSpPr>
        <p:spPr>
          <a:xfrm>
            <a:off x="571499" y="1520000"/>
            <a:ext cx="11209376" cy="500000"/>
          </a:xfrm>
          <a:prstGeom prst="rect">
            <a:avLst/>
          </a:prstGeom>
          <a:solidFill>
            <a:srgbClr val="B8114F"/>
          </a:solidFill>
          <a:ln>
            <a:noFill/>
          </a:ln>
        </p:spPr>
        <p:txBody>
          <a:bodyPr/>
          <a:lstStyle/>
          <a:p>
            <a:endParaRPr lang="en-US"/>
          </a:p>
        </p:txBody>
      </p:sp>
      <p:sp>
        <p:nvSpPr>
          <p:cNvPr id="31" name="H1"/>
          <p:cNvSpPr txBox="1"/>
          <p:nvPr/>
        </p:nvSpPr>
        <p:spPr>
          <a:xfrm>
            <a:off x="571499" y="1520000"/>
            <a:ext cx="700000" cy="500000"/>
          </a:xfrm>
          <a:prstGeom prst="rect">
            <a:avLst/>
          </a:prstGeom>
          <a:noFill/>
        </p:spPr>
        <p:txBody>
          <a:bodyPr wrap="square" lIns="91440" tIns="45720" rIns="91440" bIns="45720" rtlCol="0" anchor="ctr"/>
          <a:lstStyle/>
          <a:p>
            <a:pPr algn="ctr"/>
            <a:r>
              <a:rPr lang="en-US" sz="1600" b="1" dirty="0">
                <a:solidFill>
                  <a:prstClr val="white"/>
                </a:solidFill>
              </a:rPr>
              <a:t>Sl. No.</a:t>
            </a:r>
          </a:p>
        </p:txBody>
      </p:sp>
      <p:sp>
        <p:nvSpPr>
          <p:cNvPr id="32" name="H2"/>
          <p:cNvSpPr txBox="1"/>
          <p:nvPr/>
        </p:nvSpPr>
        <p:spPr>
          <a:xfrm>
            <a:off x="1271499" y="1520000"/>
            <a:ext cx="2800000" cy="500000"/>
          </a:xfrm>
          <a:prstGeom prst="rect">
            <a:avLst/>
          </a:prstGeom>
          <a:noFill/>
        </p:spPr>
        <p:txBody>
          <a:bodyPr wrap="square" lIns="91440" tIns="45720" rIns="91440" bIns="45720" rtlCol="0" anchor="ctr"/>
          <a:lstStyle/>
          <a:p>
            <a:pPr algn="ctr"/>
            <a:r>
              <a:rPr lang="en-US" sz="1600" b="1" dirty="0">
                <a:solidFill>
                  <a:prstClr val="white"/>
                </a:solidFill>
              </a:rPr>
              <a:t>SDG No. &amp; Goal</a:t>
            </a:r>
          </a:p>
        </p:txBody>
      </p:sp>
      <p:sp>
        <p:nvSpPr>
          <p:cNvPr id="33" name="H3"/>
          <p:cNvSpPr txBox="1"/>
          <p:nvPr/>
        </p:nvSpPr>
        <p:spPr>
          <a:xfrm>
            <a:off x="4071499" y="1520000"/>
            <a:ext cx="7709376" cy="500000"/>
          </a:xfrm>
          <a:prstGeom prst="rect">
            <a:avLst/>
          </a:prstGeom>
          <a:noFill/>
        </p:spPr>
        <p:txBody>
          <a:bodyPr wrap="square" lIns="91440" tIns="45720" rIns="91440" bIns="45720" rtlCol="0" anchor="ctr"/>
          <a:lstStyle/>
          <a:p>
            <a:pPr algn="ctr"/>
            <a:r>
              <a:rPr lang="en-US" sz="1600" b="1" dirty="0">
                <a:solidFill>
                  <a:prstClr val="white"/>
                </a:solidFill>
              </a:rPr>
              <a:t>Justification for SDG Alignment</a:t>
            </a:r>
          </a:p>
        </p:txBody>
      </p:sp>
      <p:sp>
        <p:nvSpPr>
          <p:cNvPr id="40" name="R1Bg"/>
          <p:cNvSpPr/>
          <p:nvPr/>
        </p:nvSpPr>
        <p:spPr>
          <a:xfrm>
            <a:off x="571499" y="2020000"/>
            <a:ext cx="11209376" cy="1060000"/>
          </a:xfrm>
          <a:prstGeom prst="rect">
            <a:avLst/>
          </a:prstGeom>
          <a:solidFill>
            <a:srgbClr val="FDE8F0"/>
          </a:solidFill>
          <a:ln w="12700">
            <a:solidFill>
              <a:srgbClr val="D4D4D4"/>
            </a:solidFill>
          </a:ln>
        </p:spPr>
        <p:txBody>
          <a:bodyPr/>
          <a:lstStyle/>
          <a:p>
            <a:endParaRPr lang="en-US"/>
          </a:p>
        </p:txBody>
      </p:sp>
      <p:sp>
        <p:nvSpPr>
          <p:cNvPr id="41" name="R2Bg"/>
          <p:cNvSpPr/>
          <p:nvPr/>
        </p:nvSpPr>
        <p:spPr>
          <a:xfrm>
            <a:off x="571499" y="3080000"/>
            <a:ext cx="11209376" cy="1060000"/>
          </a:xfrm>
          <a:prstGeom prst="rect">
            <a:avLst/>
          </a:prstGeom>
          <a:solidFill>
            <a:srgbClr val="FFFFFF"/>
          </a:solidFill>
          <a:ln w="12700">
            <a:solidFill>
              <a:srgbClr val="D4D4D4"/>
            </a:solidFill>
          </a:ln>
        </p:spPr>
        <p:txBody>
          <a:bodyPr/>
          <a:lstStyle/>
          <a:p>
            <a:endParaRPr lang="en-US"/>
          </a:p>
        </p:txBody>
      </p:sp>
      <p:sp>
        <p:nvSpPr>
          <p:cNvPr id="42" name="R3Bg"/>
          <p:cNvSpPr/>
          <p:nvPr/>
        </p:nvSpPr>
        <p:spPr>
          <a:xfrm>
            <a:off x="571499" y="4140000"/>
            <a:ext cx="11209376" cy="1060000"/>
          </a:xfrm>
          <a:prstGeom prst="rect">
            <a:avLst/>
          </a:prstGeom>
          <a:solidFill>
            <a:srgbClr val="FDE8F0"/>
          </a:solidFill>
          <a:ln w="12700">
            <a:solidFill>
              <a:srgbClr val="D4D4D4"/>
            </a:solidFill>
          </a:ln>
        </p:spPr>
        <p:txBody>
          <a:bodyPr/>
          <a:lstStyle/>
          <a:p>
            <a:endParaRPr lang="en-US"/>
          </a:p>
        </p:txBody>
      </p:sp>
      <p:sp>
        <p:nvSpPr>
          <p:cNvPr id="43" name="R4Bg"/>
          <p:cNvSpPr/>
          <p:nvPr/>
        </p:nvSpPr>
        <p:spPr>
          <a:xfrm>
            <a:off x="571499" y="5200000"/>
            <a:ext cx="11209376" cy="1060000"/>
          </a:xfrm>
          <a:prstGeom prst="rect">
            <a:avLst/>
          </a:prstGeom>
          <a:solidFill>
            <a:srgbClr val="FFFFFF"/>
          </a:solidFill>
          <a:ln w="12700">
            <a:solidFill>
              <a:srgbClr val="D4D4D4"/>
            </a:solidFill>
          </a:ln>
        </p:spPr>
        <p:txBody>
          <a:bodyPr/>
          <a:lstStyle/>
          <a:p>
            <a:endParaRPr lang="en-US"/>
          </a:p>
        </p:txBody>
      </p:sp>
      <p:sp>
        <p:nvSpPr>
          <p:cNvPr id="50" name="VDiv1"/>
          <p:cNvSpPr/>
          <p:nvPr/>
        </p:nvSpPr>
        <p:spPr>
          <a:xfrm>
            <a:off x="1271499" y="1520000"/>
            <a:ext cx="12700" cy="4740000"/>
          </a:xfrm>
          <a:prstGeom prst="rect">
            <a:avLst/>
          </a:prstGeom>
          <a:solidFill>
            <a:srgbClr val="D4D4D4"/>
          </a:solidFill>
          <a:ln>
            <a:noFill/>
          </a:ln>
        </p:spPr>
        <p:txBody>
          <a:bodyPr/>
          <a:lstStyle/>
          <a:p>
            <a:endParaRPr lang="en-US"/>
          </a:p>
        </p:txBody>
      </p:sp>
      <p:sp>
        <p:nvSpPr>
          <p:cNvPr id="51" name="VDiv2"/>
          <p:cNvSpPr/>
          <p:nvPr/>
        </p:nvSpPr>
        <p:spPr>
          <a:xfrm>
            <a:off x="4071499" y="1520000"/>
            <a:ext cx="12700" cy="4740000"/>
          </a:xfrm>
          <a:prstGeom prst="rect">
            <a:avLst/>
          </a:prstGeom>
          <a:solidFill>
            <a:srgbClr val="D4D4D4"/>
          </a:solidFill>
          <a:ln>
            <a:noFill/>
          </a:ln>
        </p:spPr>
        <p:txBody>
          <a:bodyPr/>
          <a:lstStyle/>
          <a:p>
            <a:endParaRPr lang="en-US"/>
          </a:p>
        </p:txBody>
      </p:sp>
      <p:sp>
        <p:nvSpPr>
          <p:cNvPr id="100" name="R1C1"/>
          <p:cNvSpPr txBox="1"/>
          <p:nvPr/>
        </p:nvSpPr>
        <p:spPr>
          <a:xfrm>
            <a:off x="571499" y="2020000"/>
            <a:ext cx="700000" cy="1060000"/>
          </a:xfrm>
          <a:prstGeom prst="rect">
            <a:avLst/>
          </a:prstGeom>
          <a:noFill/>
        </p:spPr>
        <p:txBody>
          <a:bodyPr wrap="square" lIns="91440" tIns="45720" rIns="91440" bIns="45720" rtlCol="0" anchor="ctr"/>
          <a:lstStyle/>
          <a:p>
            <a:pPr algn="ctr"/>
            <a:r>
              <a:rPr lang="en-US" sz="1600" b="1" dirty="0">
                <a:solidFill>
                  <a:srgbClr val="333333"/>
                </a:solidFill>
              </a:rPr>
              <a:t>1</a:t>
            </a:r>
          </a:p>
        </p:txBody>
      </p:sp>
      <p:sp>
        <p:nvSpPr>
          <p:cNvPr id="101" name="R1C2"/>
          <p:cNvSpPr txBox="1"/>
          <p:nvPr/>
        </p:nvSpPr>
        <p:spPr>
          <a:xfrm>
            <a:off x="1271499" y="2020000"/>
            <a:ext cx="2800000" cy="1060000"/>
          </a:xfrm>
          <a:prstGeom prst="rect">
            <a:avLst/>
          </a:prstGeom>
          <a:noFill/>
        </p:spPr>
        <p:txBody>
          <a:bodyPr wrap="square" lIns="91440" tIns="45720" rIns="91440" bIns="45720" rtlCol="0" anchor="ctr"/>
          <a:lstStyle/>
          <a:p>
            <a:r>
              <a:rPr lang="en-US" sz="1500" b="1" dirty="0">
                <a:solidFill>
                  <a:srgbClr val="B8114F"/>
                </a:solidFill>
              </a:rPr>
              <a:t xml:space="preserve">SDG 3 </a:t>
            </a:r>
            <a:r>
              <a:rPr lang="en-US" sz="1500" b="1" dirty="0">
                <a:solidFill>
                  <a:srgbClr val="333333"/>
                </a:solidFill>
              </a:rPr>
              <a:t>– Good Health and Well-Being</a:t>
            </a:r>
          </a:p>
        </p:txBody>
      </p:sp>
      <p:sp>
        <p:nvSpPr>
          <p:cNvPr id="102" name="R1C3"/>
          <p:cNvSpPr txBox="1"/>
          <p:nvPr/>
        </p:nvSpPr>
        <p:spPr>
          <a:xfrm>
            <a:off x="4071499" y="2020000"/>
            <a:ext cx="7709376" cy="1060000"/>
          </a:xfrm>
          <a:prstGeom prst="rect">
            <a:avLst/>
          </a:prstGeom>
          <a:noFill/>
        </p:spPr>
        <p:txBody>
          <a:bodyPr wrap="square" lIns="91440" tIns="45720" rIns="91440" bIns="45720" rtlCol="0" anchor="ctr"/>
          <a:lstStyle/>
          <a:p>
            <a:r>
              <a:rPr lang="en-US" sz="1400" dirty="0">
                <a:solidFill>
                  <a:srgbClr val="333333"/>
                </a:solidFill>
              </a:rPr>
              <a:t>HQ-Map enforces ISO 26262 ASIL-D safety constraints, achieving SCSR of 70.4% (vs 24.7% for Q-Thermal). Reliable ADAS task placement directly reduces road fatalities and improves occupant safety in autonomous vehicles.</a:t>
            </a:r>
          </a:p>
        </p:txBody>
      </p:sp>
      <p:sp>
        <p:nvSpPr>
          <p:cNvPr id="110" name="R2C1"/>
          <p:cNvSpPr txBox="1"/>
          <p:nvPr/>
        </p:nvSpPr>
        <p:spPr>
          <a:xfrm>
            <a:off x="571499" y="3080000"/>
            <a:ext cx="700000" cy="1060000"/>
          </a:xfrm>
          <a:prstGeom prst="rect">
            <a:avLst/>
          </a:prstGeom>
          <a:noFill/>
        </p:spPr>
        <p:txBody>
          <a:bodyPr wrap="square" lIns="91440" tIns="45720" rIns="91440" bIns="45720" rtlCol="0" anchor="ctr"/>
          <a:lstStyle/>
          <a:p>
            <a:pPr algn="ctr"/>
            <a:r>
              <a:rPr lang="en-US" sz="1600" b="1" dirty="0">
                <a:solidFill>
                  <a:srgbClr val="333333"/>
                </a:solidFill>
              </a:rPr>
              <a:t>2</a:t>
            </a:r>
          </a:p>
        </p:txBody>
      </p:sp>
      <p:sp>
        <p:nvSpPr>
          <p:cNvPr id="111" name="R2C2"/>
          <p:cNvSpPr txBox="1"/>
          <p:nvPr/>
        </p:nvSpPr>
        <p:spPr>
          <a:xfrm>
            <a:off x="1271499" y="3080000"/>
            <a:ext cx="2800000" cy="1060000"/>
          </a:xfrm>
          <a:prstGeom prst="rect">
            <a:avLst/>
          </a:prstGeom>
          <a:noFill/>
        </p:spPr>
        <p:txBody>
          <a:bodyPr wrap="square" lIns="91440" tIns="45720" rIns="91440" bIns="45720" rtlCol="0" anchor="ctr"/>
          <a:lstStyle/>
          <a:p>
            <a:r>
              <a:rPr lang="en-US" sz="1500" b="1" dirty="0">
                <a:solidFill>
                  <a:srgbClr val="B8114F"/>
                </a:solidFill>
              </a:rPr>
              <a:t xml:space="preserve">SDG 9 </a:t>
            </a:r>
            <a:r>
              <a:rPr lang="en-US" sz="1500" b="1" dirty="0">
                <a:solidFill>
                  <a:srgbClr val="333333"/>
                </a:solidFill>
              </a:rPr>
              <a:t>– Industry, Innovation and Infrastructure</a:t>
            </a:r>
          </a:p>
        </p:txBody>
      </p:sp>
      <p:sp>
        <p:nvSpPr>
          <p:cNvPr id="112" name="R2C3"/>
          <p:cNvSpPr txBox="1"/>
          <p:nvPr/>
        </p:nvSpPr>
        <p:spPr>
          <a:xfrm>
            <a:off x="4071499" y="3080000"/>
            <a:ext cx="7709376" cy="1060000"/>
          </a:xfrm>
          <a:prstGeom prst="rect">
            <a:avLst/>
          </a:prstGeom>
          <a:noFill/>
        </p:spPr>
        <p:txBody>
          <a:bodyPr wrap="square" lIns="91440" tIns="45720" rIns="91440" bIns="45720" rtlCol="0" anchor="ctr"/>
          <a:lstStyle/>
          <a:p>
            <a:r>
              <a:rPr lang="en-US" sz="1400" dirty="0">
                <a:solidFill>
                  <a:srgbClr val="333333"/>
                </a:solidFill>
              </a:rPr>
              <a:t>The hierarchical RL framework and spectral clustering introduce novel algorithmic innovations for SoC design automation. HQ-Map reduces communication latency by 62% vs Round-Robin (1476 vs 3923), enabling efficient embedded transportation infrastructure.</a:t>
            </a:r>
          </a:p>
        </p:txBody>
      </p:sp>
      <p:sp>
        <p:nvSpPr>
          <p:cNvPr id="120" name="R3C1"/>
          <p:cNvSpPr txBox="1"/>
          <p:nvPr/>
        </p:nvSpPr>
        <p:spPr>
          <a:xfrm>
            <a:off x="571499" y="4140000"/>
            <a:ext cx="700000" cy="1060000"/>
          </a:xfrm>
          <a:prstGeom prst="rect">
            <a:avLst/>
          </a:prstGeom>
          <a:noFill/>
        </p:spPr>
        <p:txBody>
          <a:bodyPr wrap="square" lIns="91440" tIns="45720" rIns="91440" bIns="45720" rtlCol="0" anchor="ctr"/>
          <a:lstStyle/>
          <a:p>
            <a:pPr algn="ctr"/>
            <a:r>
              <a:rPr lang="en-US" sz="1600" b="1" dirty="0">
                <a:solidFill>
                  <a:srgbClr val="333333"/>
                </a:solidFill>
              </a:rPr>
              <a:t>3</a:t>
            </a:r>
          </a:p>
        </p:txBody>
      </p:sp>
      <p:sp>
        <p:nvSpPr>
          <p:cNvPr id="121" name="R3C2"/>
          <p:cNvSpPr txBox="1"/>
          <p:nvPr/>
        </p:nvSpPr>
        <p:spPr>
          <a:xfrm>
            <a:off x="1271499" y="4140000"/>
            <a:ext cx="2800000" cy="1060000"/>
          </a:xfrm>
          <a:prstGeom prst="rect">
            <a:avLst/>
          </a:prstGeom>
          <a:noFill/>
        </p:spPr>
        <p:txBody>
          <a:bodyPr wrap="square" lIns="91440" tIns="45720" rIns="91440" bIns="45720" rtlCol="0" anchor="ctr"/>
          <a:lstStyle/>
          <a:p>
            <a:r>
              <a:rPr lang="en-US" sz="1500" b="1" dirty="0">
                <a:solidFill>
                  <a:srgbClr val="B8114F"/>
                </a:solidFill>
              </a:rPr>
              <a:t xml:space="preserve">SDG 11 </a:t>
            </a:r>
            <a:r>
              <a:rPr lang="en-US" sz="1500" b="1" dirty="0">
                <a:solidFill>
                  <a:srgbClr val="333333"/>
                </a:solidFill>
              </a:rPr>
              <a:t>– Sustainable Cities and Communities</a:t>
            </a:r>
          </a:p>
        </p:txBody>
      </p:sp>
      <p:sp>
        <p:nvSpPr>
          <p:cNvPr id="122" name="R3C3"/>
          <p:cNvSpPr txBox="1"/>
          <p:nvPr/>
        </p:nvSpPr>
        <p:spPr>
          <a:xfrm>
            <a:off x="4071499" y="4140000"/>
            <a:ext cx="7709376" cy="1060000"/>
          </a:xfrm>
          <a:prstGeom prst="rect">
            <a:avLst/>
          </a:prstGeom>
          <a:noFill/>
        </p:spPr>
        <p:txBody>
          <a:bodyPr wrap="square" lIns="91440" tIns="45720" rIns="91440" bIns="45720" rtlCol="0" anchor="ctr"/>
          <a:lstStyle/>
          <a:p>
            <a:r>
              <a:rPr lang="en-US" sz="1400" dirty="0">
                <a:solidFill>
                  <a:srgbClr val="333333"/>
                </a:solidFill>
              </a:rPr>
              <a:t>Dynamic mode-aware scheduling (City, Highway, Parked) enables safe and efficient smart-city mobility. The SCSR metric quantifies ADAS reliability, supporting deployment of autonomous vehicles in urban environments.</a:t>
            </a:r>
          </a:p>
        </p:txBody>
      </p:sp>
      <p:sp>
        <p:nvSpPr>
          <p:cNvPr id="130" name="R4C1"/>
          <p:cNvSpPr txBox="1"/>
          <p:nvPr/>
        </p:nvSpPr>
        <p:spPr>
          <a:xfrm>
            <a:off x="571499" y="5200000"/>
            <a:ext cx="700000" cy="1060000"/>
          </a:xfrm>
          <a:prstGeom prst="rect">
            <a:avLst/>
          </a:prstGeom>
          <a:noFill/>
        </p:spPr>
        <p:txBody>
          <a:bodyPr wrap="square" lIns="91440" tIns="45720" rIns="91440" bIns="45720" rtlCol="0" anchor="ctr"/>
          <a:lstStyle/>
          <a:p>
            <a:pPr algn="ctr"/>
            <a:r>
              <a:rPr lang="en-US" sz="1600" b="1" dirty="0">
                <a:solidFill>
                  <a:srgbClr val="333333"/>
                </a:solidFill>
              </a:rPr>
              <a:t>4</a:t>
            </a:r>
          </a:p>
        </p:txBody>
      </p:sp>
      <p:sp>
        <p:nvSpPr>
          <p:cNvPr id="131" name="R4C2"/>
          <p:cNvSpPr txBox="1"/>
          <p:nvPr/>
        </p:nvSpPr>
        <p:spPr>
          <a:xfrm>
            <a:off x="1271499" y="5200000"/>
            <a:ext cx="2800000" cy="1060000"/>
          </a:xfrm>
          <a:prstGeom prst="rect">
            <a:avLst/>
          </a:prstGeom>
          <a:noFill/>
        </p:spPr>
        <p:txBody>
          <a:bodyPr wrap="square" lIns="91440" tIns="45720" rIns="91440" bIns="45720" rtlCol="0" anchor="ctr"/>
          <a:lstStyle/>
          <a:p>
            <a:r>
              <a:rPr lang="en-US" sz="1500" b="1" dirty="0">
                <a:solidFill>
                  <a:srgbClr val="B8114F"/>
                </a:solidFill>
              </a:rPr>
              <a:t xml:space="preserve">SDG 13 </a:t>
            </a:r>
            <a:r>
              <a:rPr lang="en-US" sz="1500" b="1" dirty="0">
                <a:solidFill>
                  <a:srgbClr val="333333"/>
                </a:solidFill>
              </a:rPr>
              <a:t>– Climate Action</a:t>
            </a:r>
          </a:p>
        </p:txBody>
      </p:sp>
      <p:sp>
        <p:nvSpPr>
          <p:cNvPr id="132" name="R4C3"/>
          <p:cNvSpPr txBox="1"/>
          <p:nvPr/>
        </p:nvSpPr>
        <p:spPr>
          <a:xfrm>
            <a:off x="4071499" y="5200000"/>
            <a:ext cx="7709376" cy="1060000"/>
          </a:xfrm>
          <a:prstGeom prst="rect">
            <a:avLst/>
          </a:prstGeom>
          <a:noFill/>
        </p:spPr>
        <p:txBody>
          <a:bodyPr wrap="square" lIns="91440" tIns="45720" rIns="91440" bIns="45720" rtlCol="0" anchor="ctr"/>
          <a:lstStyle/>
          <a:p>
            <a:r>
              <a:rPr lang="en-US" sz="1400" dirty="0">
                <a:solidFill>
                  <a:srgbClr val="333333"/>
                </a:solidFill>
              </a:rPr>
              <a:t>Thermal-aware mapping (zero violations, max 69 deg C) minimises cooling energy expenditure in automotive SoCs. Efficient task scheduling reduces chip power consumption, contributing to lower CO2 emissions in electrified and hybrid vehicle platforms.</a:t>
            </a:r>
          </a:p>
        </p:txBody>
      </p:sp>
      <p:sp>
        <p:nvSpPr>
          <p:cNvPr id="4" name="Slide Number Placeholder"/>
          <p:cNvSpPr>
            <a:spLocks noGrp="1"/>
          </p:cNvSpPr>
          <p:nvPr>
            <p:ph type="sldNum" sz="quarter" idx="12"/>
          </p:nvPr>
        </p:nvSpPr>
        <p:spPr/>
        <p:txBody>
          <a:bodyPr/>
          <a:lstStyle/>
          <a:p>
            <a:fld id="{330EA680-D336-4FF7-8B7A-9848BB0A1C14}" type="slidenum">
              <a:rPr lang="en-US" smtClean="0"/>
              <a:pPr/>
              <a:t>14</a:t>
            </a:fld>
          </a:p>
        </p:txBody>
      </p:sp>
      <p:sp>
        <p:nvSpPr>
          <p:cNvPr id="6" name="Footer"/>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000" b="1" dirty="0"/>
              <a:t>1. Episodic Reward Formulation</a:t>
            </a:r>
          </a:p>
          <a:p>
            <a:pPr algn="l">
              <a:lnSpc>
                <a:spcPts val="1800"/>
              </a:lnSpc>
            </a:pPr>
            <a:r>
              <a:rPr lang="en-US" sz="1800" dirty="0"/>
              <a:t>The single reward revealed at end of episode (rather than per-decision step rewards) limits credit assignment for individual placement decisions. A multi-step reward with intermediate signals per task placement could improve convergence speed.</a:t>
            </a:r>
          </a:p>
          <a:p>
            <a:pPr algn="l">
              <a:lnSpc>
                <a:spcPts val="1800"/>
              </a:lnSpc>
            </a:pPr>
            <a:r>
              <a:rPr lang="en-US" sz="2000" b="1" dirty="0"/>
              <a:t>2. Fixed 4-Cluster Topology</a:t>
            </a:r>
          </a:p>
          <a:p>
            <a:pPr algn="l">
              <a:lnSpc>
                <a:spcPts val="1800"/>
              </a:lnSpc>
            </a:pPr>
            <a:r>
              <a:rPr lang="en-US" sz="1800" dirty="0"/>
              <a:t>The current implementation is hardcoded for 4 clusters on an 8x8 grid. Extension to irregular topologies (3D NoC, heterogeneous tiles) would require architectural changes to the coarse Q-table.</a:t>
            </a:r>
          </a:p>
          <a:p>
            <a:pPr algn="l">
              <a:lnSpc>
                <a:spcPts val="1800"/>
              </a:lnSpc>
            </a:pPr>
            <a:r>
              <a:rPr lang="en-US" sz="2000" b="1" dirty="0"/>
              <a:t>3. Simulated Thermal Model</a:t>
            </a:r>
          </a:p>
          <a:p>
            <a:pPr algn="l">
              <a:lnSpc>
                <a:spcPts val="1800"/>
              </a:lnSpc>
            </a:pPr>
            <a:r>
              <a:rPr lang="en-US" sz="1800" dirty="0"/>
              <a:t>The flat +heat_by_type per active core is a simplified thermal model. Real SoCs exhibit spatial heat spreading, thermal resistance paths, and interdependencies between adjacent cores not captured here.</a:t>
            </a:r>
          </a:p>
          <a:p>
            <a:pPr algn="l">
              <a:lnSpc>
                <a:spcPts val="1800"/>
              </a:lnSpc>
            </a:pPr>
            <a:r>
              <a:rPr lang="en-US" sz="2000" b="1" dirty="0"/>
              <a:t>4. Workload Stationarity Within Modes</a:t>
            </a:r>
          </a:p>
          <a:p>
            <a:pPr algn="l">
              <a:lnSpc>
                <a:spcPts val="1800"/>
              </a:lnSpc>
            </a:pPr>
            <a:r>
              <a:rPr lang="en-US" sz="1800" dirty="0"/>
              <a:t>The DAG is regenerated identically every step within a mode. Real workloads have stochastic variation in bandwidth and task arrival rates. The agent may overfit to a deterministic workload pattern.</a:t>
            </a:r>
          </a:p>
          <a:p>
            <a:pPr algn="l">
              <a:lnSpc>
                <a:spcPts val="1800"/>
              </a:lnSpc>
            </a:pPr>
            <a:r>
              <a:rPr lang="en-US" sz="2000" b="1" dirty="0"/>
              <a:t>5. Single-Episode TD Update</a:t>
            </a:r>
          </a:p>
          <a:p>
            <a:pPr algn="l">
              <a:lnSpc>
                <a:spcPts val="1800"/>
              </a:lnSpc>
            </a:pPr>
            <a:r>
              <a:rPr lang="en-US" sz="1800" dirty="0"/>
              <a:t>No experience replay buffer is used. Past (s, a, r, s') transitions are not reused, reducing sample efficiency compared to DQN-style methods.</a:t>
            </a:r>
          </a:p>
        </p:txBody>
      </p:sp>
      <p:sp>
        <p:nvSpPr>
          <p:cNvPr id="3" name="Title 2"/>
          <p:cNvSpPr>
            <a:spLocks noGrp="1"/>
          </p:cNvSpPr>
          <p:nvPr>
            <p:ph type="title"/>
          </p:nvPr>
        </p:nvSpPr>
        <p:spPr/>
        <p:txBody>
          <a:bodyPr/>
          <a:lstStyle/>
          <a:p>
            <a:r>
              <a:rPr lang="en-US" dirty="0"/>
              <a:t>Limitations</a:t>
            </a:r>
          </a:p>
        </p:txBody>
      </p:sp>
      <p:sp>
        <p:nvSpPr>
          <p:cNvPr id="4" name="Slide Number Placeholder 3"/>
          <p:cNvSpPr>
            <a:spLocks noGrp="1"/>
          </p:cNvSpPr>
          <p:nvPr>
            <p:ph type="sldNum" sz="quarter" idx="12"/>
          </p:nvPr>
        </p:nvSpPr>
        <p:spPr/>
        <p:txBody>
          <a:bodyPr/>
          <a:lstStyle/>
          <a:p>
            <a:fld id="{330EA680-D336-4FF7-8B7A-9848BB0A1C15}" type="slidenum">
              <a:rPr lang="en-US" smtClean="0"/>
              <a:pPr/>
              <a:t>15</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000" b="1" dirty="0"/>
              <a:t>1. Experience Replay and DQN</a:t>
            </a:r>
          </a:p>
          <a:p>
            <a:pPr algn="l">
              <a:lnSpc>
                <a:spcPts val="1800"/>
              </a:lnSpc>
            </a:pPr>
            <a:r>
              <a:rPr lang="en-US" sz="1800" dirty="0"/>
              <a:t>Replace tabular Q-learning with a Deep Q-Network (DQN) using a replay buffer. This enables function approximation over continuous state spaces and reuse of past transitions for improved sample efficiency.</a:t>
            </a:r>
          </a:p>
          <a:p>
            <a:pPr algn="l">
              <a:lnSpc>
                <a:spcPts val="1800"/>
              </a:lnSpc>
            </a:pPr>
            <a:r>
              <a:rPr lang="en-US" sz="2000" b="1" dirty="0"/>
              <a:t>2. Multi-Step Returns and n-step TD</a:t>
            </a:r>
          </a:p>
          <a:p>
            <a:pPr algn="l">
              <a:lnSpc>
                <a:spcPts val="1800"/>
              </a:lnSpc>
            </a:pPr>
            <a:r>
              <a:rPr lang="en-US" sz="1800" dirty="0"/>
              <a:t>Replace single-step TD(0) with n-step returns or TD(lambda) to improve credit assignment across the full task placement sequence within each episode.</a:t>
            </a:r>
          </a:p>
          <a:p>
            <a:pPr algn="l">
              <a:lnSpc>
                <a:spcPts val="1800"/>
              </a:lnSpc>
            </a:pPr>
            <a:r>
              <a:rPr lang="en-US" sz="2000" b="1" dirty="0"/>
              <a:t>3. 3D NoC and Heterogeneous Topologies</a:t>
            </a:r>
          </a:p>
          <a:p>
            <a:pPr algn="l">
              <a:lnSpc>
                <a:spcPts val="1800"/>
              </a:lnSpc>
            </a:pPr>
            <a:r>
              <a:rPr lang="en-US" sz="1800" dirty="0"/>
              <a:t>Extend HQ-Map to 3D stacked NoC architectures and heterogeneous tile types (CPU, GPU, NPU, memory) reflecting real automotive SoCs such as NVIDIA Orin or Qualcomm Snapdragon Ride.</a:t>
            </a:r>
          </a:p>
          <a:p>
            <a:pPr algn="l">
              <a:lnSpc>
                <a:spcPts val="1800"/>
              </a:lnSpc>
            </a:pPr>
            <a:r>
              <a:rPr lang="en-US" sz="2000" b="1" dirty="0"/>
              <a:t>4. Physics-Informed Thermal Model</a:t>
            </a:r>
          </a:p>
          <a:p>
            <a:pPr algn="l">
              <a:lnSpc>
                <a:spcPts val="1800"/>
              </a:lnSpc>
            </a:pPr>
            <a:r>
              <a:rPr lang="en-US" sz="1800" dirty="0"/>
              <a:t>Integrate a thermal resistance matrix (RC network model) for accurate spatial heat diffusion simulation, enabling the agent to learn true thermal hotspot avoidance.</a:t>
            </a:r>
          </a:p>
          <a:p>
            <a:pPr algn="l">
              <a:lnSpc>
                <a:spcPts val="1800"/>
              </a:lnSpc>
            </a:pPr>
            <a:r>
              <a:rPr lang="en-US" sz="2000" b="1" dirty="0"/>
              <a:t>5. Hardware-in-the-Loop Validation</a:t>
            </a:r>
          </a:p>
          <a:p>
            <a:pPr algn="l">
              <a:lnSpc>
                <a:spcPts val="1800"/>
              </a:lnSpc>
            </a:pPr>
            <a:r>
              <a:rPr lang="en-US" sz="1800" dirty="0"/>
              <a:t>Validate HQ-Map on an FPGA-emulated NoC or gem5 full-system simulation with real ADAS benchmark traces (SPEC Automotive, AUTOSAR) to demonstrate real-world applicability.</a:t>
            </a:r>
          </a:p>
        </p:txBody>
      </p:sp>
      <p:sp>
        <p:nvSpPr>
          <p:cNvPr id="3" name="Title 2"/>
          <p:cNvSpPr>
            <a:spLocks noGrp="1"/>
          </p:cNvSpPr>
          <p:nvPr>
            <p:ph type="title"/>
          </p:nvPr>
        </p:nvSpPr>
        <p:spPr/>
        <p:txBody>
          <a:bodyPr/>
          <a:lstStyle/>
          <a:p>
            <a:r>
              <a:rPr lang="en-US" dirty="0"/>
              <a:t>Future Works</a:t>
            </a:r>
          </a:p>
        </p:txBody>
      </p:sp>
      <p:sp>
        <p:nvSpPr>
          <p:cNvPr id="4" name="Slide Number Placeholder 3"/>
          <p:cNvSpPr>
            <a:spLocks noGrp="1"/>
          </p:cNvSpPr>
          <p:nvPr>
            <p:ph type="sldNum" sz="quarter" idx="12"/>
          </p:nvPr>
        </p:nvSpPr>
        <p:spPr/>
        <p:txBody>
          <a:bodyPr/>
          <a:lstStyle/>
          <a:p>
            <a:fld id="{330EA680-D336-4FF7-8B7A-9848BB0A1C16}" type="slidenum">
              <a:rPr lang="en-US" smtClean="0"/>
              <a:pPr/>
              <a:t>16</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200" b="1" dirty="0"/>
              <a:t>Target Journals / Conferences</a:t>
            </a:r>
          </a:p>
          <a:p>
            <a:pPr algn="l">
              <a:lnSpc>
                <a:spcPts val="1800"/>
              </a:lnSpc>
            </a:pPr>
            <a:r>
              <a:rPr lang="en-US" sz="1800" dirty="0"/>
              <a:t>1.  IEEE Transactions on Very Large Scale Integration (VLSI) Systems -- Primary target for the full HQ-Map framework with SCSR metric and comparative evaluation.</a:t>
            </a:r>
          </a:p>
          <a:p>
            <a:pPr algn="l">
              <a:lnSpc>
                <a:spcPts val="1800"/>
              </a:lnSpc>
            </a:pPr>
            <a:r>
              <a:rPr lang="en-US" sz="1800" dirty="0"/>
              <a:t>2.  ACM/IEEE Design Automation Conference (DAC) -- Target for the spectral clustering + safety-aware reward co-design contribution.</a:t>
            </a:r>
          </a:p>
          <a:p>
            <a:pPr algn="l">
              <a:lnSpc>
                <a:spcPts val="1800"/>
              </a:lnSpc>
            </a:pPr>
            <a:r>
              <a:rPr lang="en-US" sz="1800" dirty="0"/>
              <a:t>3.  IEEE Transactions on Computer-Aided Design of Integrated Circuits and Systems (TCAD) -- Target for the Octave/MATLAB simulation framework and evaluation methodology.</a:t>
            </a:r>
          </a:p>
          <a:p>
            <a:pPr algn="l">
              <a:lnSpc>
                <a:spcPts val="1800"/>
              </a:lnSpc>
            </a:pPr>
            <a:r>
              <a:rPr lang="en-US" sz="2200" b="1" dirty="0"/>
              <a:t>Work in Progress</a:t>
            </a:r>
          </a:p>
          <a:p>
            <a:pPr algn="l">
              <a:lnSpc>
                <a:spcPts val="1800"/>
              </a:lnSpc>
            </a:pPr>
            <a:r>
              <a:rPr lang="en-US" sz="1800" dirty="0"/>
              <a:t>Manuscript in preparation: “HQ-Map: Hierarchical Q-Learning for Safety-Aware Thermal Task Mapping in Automotive Network-on-Chip SoCs” -- targeting IEEE Trans. VLSI Systems, 2025.</a:t>
            </a:r>
          </a:p>
          <a:p>
            <a:pPr algn="l">
              <a:lnSpc>
                <a:spcPts val="1800"/>
              </a:lnSpc>
            </a:pPr>
            <a:r>
              <a:rPr lang="en-US" sz="1800" dirty="0"/>
              <a:t>Differentiation from prior work documented in paper: comparison against Q-Thermal [Ebrahimi 2020], TTQR [Liu 2022], FLEA [Weber 2025] with unified evaluation protocol.</a:t>
            </a:r>
          </a:p>
        </p:txBody>
      </p:sp>
      <p:sp>
        <p:nvSpPr>
          <p:cNvPr id="3" name="Title 2"/>
          <p:cNvSpPr>
            <a:spLocks noGrp="1"/>
          </p:cNvSpPr>
          <p:nvPr>
            <p:ph type="title"/>
          </p:nvPr>
        </p:nvSpPr>
        <p:spPr/>
        <p:txBody>
          <a:bodyPr/>
          <a:lstStyle/>
          <a:p>
            <a:r>
              <a:rPr lang="en-US" dirty="0"/>
              <a:t>Publications</a:t>
            </a:r>
          </a:p>
        </p:txBody>
      </p:sp>
      <p:sp>
        <p:nvSpPr>
          <p:cNvPr id="4" name="Slide Number Placeholder 3"/>
          <p:cNvSpPr>
            <a:spLocks noGrp="1"/>
          </p:cNvSpPr>
          <p:nvPr>
            <p:ph type="sldNum" sz="quarter" idx="12"/>
          </p:nvPr>
        </p:nvSpPr>
        <p:spPr/>
        <p:txBody>
          <a:bodyPr/>
          <a:lstStyle/>
          <a:p>
            <a:fld id="{330EA680-D336-4FF7-8B7A-9848BB0A1C17}" type="slidenum">
              <a:rPr lang="en-US" smtClean="0"/>
              <a:pPr/>
              <a:t>17</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p:txBody>
          <a:bodyPr vert="horz" lIns="91440" tIns="45720" rIns="91440" bIns="45720" rtlCol="0" anchor="t">
            <a:normAutofit fontScale="80000" lnSpcReduction="10000"/>
          </a:bodyPr>
          <a:lstStyle/>
          <a:p>
            <a:pPr algn="l">
              <a:lnSpc>
                <a:spcPts val="1800"/>
              </a:lnSpc>
            </a:pPr>
            <a:r>
              <a:rPr lang="en-US" sz="2000" b="1" dirty="0"/>
              <a:t>Key References</a:t>
            </a:r>
          </a:p>
          <a:p>
            <a:pPr algn="l">
              <a:lnSpc>
                <a:spcPts val="1800"/>
              </a:lnSpc>
            </a:pPr>
            <a:r>
              <a:rPr lang="en-US" sz="1600" dirty="0"/>
              <a:t>Ebrahimi, M., et al. (2020). Q-Thermal: A Q-learning based thermal-aware routing algorithm for 3D NoCs. IEEE Transactions on Very Large Scale Integration (VLSI) Systems, 28(4), 1058-1071.</a:t>
            </a:r>
          </a:p>
          <a:p>
            <a:pPr algn="l">
              <a:lnSpc>
                <a:spcPts val="1800"/>
              </a:lnSpc>
            </a:pPr>
            <a:r>
              <a:rPr lang="en-US" sz="1600" dirty="0"/>
              <a:t>Liu, Y., et al. (2022). TTQR: Traffic and thermal-aware Q-routing for Network-on-Chip. Sensors, 22(15), 5632.</a:t>
            </a:r>
          </a:p>
          <a:p>
            <a:pPr algn="l">
              <a:lnSpc>
                <a:spcPts val="1800"/>
              </a:lnSpc>
            </a:pPr>
            <a:r>
              <a:rPr lang="en-US" sz="1600" dirty="0"/>
              <a:t>Weber, J., et al. (2025). FLEA: Failure-aware learning-based task allocation for many-core SoCs. Design Automation for Embedded Systems.</a:t>
            </a:r>
          </a:p>
          <a:p>
            <a:pPr algn="l">
              <a:lnSpc>
                <a:spcPts val="1800"/>
              </a:lnSpc>
            </a:pPr>
            <a:r>
              <a:rPr lang="en-US" sz="1600" dirty="0"/>
              <a:t>Srinivasan, K., et al. (2007). Greedy nearest-neighbor algorithms for Network-on-Chip mapping. IEEE Transactions on VLSI Systems.</a:t>
            </a:r>
          </a:p>
          <a:p>
            <a:pPr algn="l">
              <a:lnSpc>
                <a:spcPts val="1800"/>
              </a:lnSpc>
            </a:pPr>
            <a:r>
              <a:rPr lang="en-US" sz="1600" dirty="0"/>
              <a:t>Chen, X., et al. (2023). ACAPS: Actor-critic adaptive placement for Network-on-Chip routing. IEEE Transactions on Computer-Aided Design.</a:t>
            </a:r>
          </a:p>
          <a:p>
            <a:pPr algn="l">
              <a:lnSpc>
                <a:spcPts val="1800"/>
              </a:lnSpc>
            </a:pPr>
            <a:r>
              <a:rPr lang="en-US" sz="1600" dirty="0"/>
              <a:t>ISO 26262:2018. (2018). Road vehicles -- Functional safety. International Organization for Standardization.</a:t>
            </a:r>
          </a:p>
          <a:p>
            <a:pPr algn="l">
              <a:lnSpc>
                <a:spcPts val="1800"/>
              </a:lnSpc>
            </a:pPr>
            <a:r>
              <a:rPr lang="en-US" sz="1600" dirty="0"/>
              <a:t>Watkins, C. J. C. H., and Dayan, P. (1992). Q-learning. Machine Learning, 8(3-4), 279-292.</a:t>
            </a:r>
          </a:p>
          <a:p>
            <a:pPr algn="l">
              <a:lnSpc>
                <a:spcPts val="1800"/>
              </a:lnSpc>
            </a:pPr>
            <a:r>
              <a:rPr lang="en-US" sz="1600" dirty="0"/>
              <a:t>Ng, V. M., et al. (2024). Spectral clustering for task graph partitioning in heterogeneous SoCs. ACM Transactions on Design Automation of Electronic Systems.</a:t>
            </a:r>
          </a:p>
        </p:txBody>
      </p:sp>
      <p:sp>
        <p:nvSpPr>
          <p:cNvPr id="3" name="Title 2"/>
          <p:cNvSpPr>
            <a:spLocks noGrp="1"/>
          </p:cNvSpPr>
          <p:nvPr>
            <p:ph type="title"/>
          </p:nvPr>
        </p:nvSpPr>
        <p:spPr/>
        <p:txBody>
          <a:bodyPr/>
          <a:lstStyle/>
          <a:p>
            <a:r>
              <a:rPr lang="en-US" dirty="0"/>
              <a:t>References (APA Style)</a:t>
            </a:r>
          </a:p>
        </p:txBody>
      </p:sp>
      <p:sp>
        <p:nvSpPr>
          <p:cNvPr id="4" name="Slide Number Placeholder 3"/>
          <p:cNvSpPr>
            <a:spLocks noGrp="1"/>
          </p:cNvSpPr>
          <p:nvPr>
            <p:ph type="sldNum" sz="quarter" idx="12"/>
          </p:nvPr>
        </p:nvSpPr>
        <p:spPr/>
        <p:txBody>
          <a:bodyPr/>
          <a:lstStyle/>
          <a:p>
            <a:fld id="{330EA680-D336-4FF7-8B7A-9848BB0A1C18}" type="slidenum">
              <a:rPr lang="en-US" smtClean="0"/>
              <a:pPr/>
              <a:t>18</a:t>
            </a:fld>
          </a:p>
        </p:txBody>
      </p:sp>
      <p:sp>
        <p:nvSpPr>
          <p:cNvPr id="6" name="TextBox 5"/>
          <p:cNvSpPr txBox="1"/>
          <p:nvPr/>
        </p:nvSpPr>
        <p:spPr>
          <a:xfrm>
            <a:off x="2976282" y="6488668"/>
            <a:ext cx="6714565" cy="323165"/>
          </a:xfrm>
          <a:prstGeom prst="rect">
            <a:avLst/>
          </a:prstGeom>
          <a:noFill/>
        </p:spPr>
        <p:txBody>
          <a:bodyPr wrap="square" rtlCol="0">
            <a:spAutoFit/>
          </a:bodyPr>
          <a:lstStyle/>
          <a:p>
            <a:r>
              <a:rPr lang="en-US" sz="1200" dirty="0">
                <a:solidFill>
                  <a:schemeClr val="bg1">
                    <a:lumMod val="85000"/>
                  </a:schemeClr>
                </a:solidFill>
              </a:rPr>
              <a:t>HQ-Map: Hierarchical Q-Learning for Automotive NoC SoCs</a:t>
            </a:r>
          </a:p>
        </p:txBody>
      </p:sp>
    </p:spTree>
  </p:cSld>
  <p:clrMapOvr>
    <a:masterClrMapping/>
  </p:clrMapOvr>
</p:sld>
</file>

<file path=ppt/theme/theme1.xml><?xml version="1.0" encoding="utf-8"?>
<a:theme xmlns:a="http://schemas.openxmlformats.org/drawingml/2006/main" name="AlignmentVTI">
  <a:themeElements>
    <a:clrScheme name="AnalogousFromLightSeed_2SEEDS">
      <a:dk1>
        <a:srgbClr val="000000"/>
      </a:dk1>
      <a:lt1>
        <a:srgbClr val="FFFFFF"/>
      </a:lt1>
      <a:dk2>
        <a:srgbClr val="243741"/>
      </a:dk2>
      <a:lt2>
        <a:srgbClr val="E2E5E8"/>
      </a:lt2>
      <a:accent1>
        <a:srgbClr val="BB9D7E"/>
      </a:accent1>
      <a:accent2>
        <a:srgbClr val="C59791"/>
      </a:accent2>
      <a:accent3>
        <a:srgbClr val="A5A27B"/>
      </a:accent3>
      <a:accent4>
        <a:srgbClr val="74ADA7"/>
      </a:accent4>
      <a:accent5>
        <a:srgbClr val="7EA7BB"/>
      </a:accent5>
      <a:accent6>
        <a:srgbClr val="7E8DBB"/>
      </a:accent6>
      <a:hlink>
        <a:srgbClr val="6184A9"/>
      </a:hlink>
      <a:folHlink>
        <a:srgbClr val="7F7F7F"/>
      </a:folHlink>
    </a:clrScheme>
    <a:fontScheme name="Custom 1">
      <a:majorFont>
        <a:latin typeface="Batang"/>
        <a:ea typeface=""/>
        <a:cs typeface=""/>
      </a:majorFont>
      <a:minorFont>
        <a:latin typeface="Avenir Next LT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ignmentVTI" id="{606D7720-FAA0-4ADC-B967-3239DA8ECA1A}" vid="{10074623-6FCC-4A3C-AAA5-58644BD8FF1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2109</TotalTime>
  <Words>81</Words>
  <Application>Microsoft Office PowerPoint</Application>
  <PresentationFormat>Widescreen</PresentationFormat>
  <Paragraphs>27</Paragraphs>
  <Slides>2</Slides>
  <Notes>0</Notes>
  <HiddenSlides>0</HiddenSlides>
  <MMClips>0</MMClips>
  <ScaleCrop>false</ScaleCrop>
  <HeadingPairs>
    <vt:vector size="4" baseType="variant">
      <vt:variant>
        <vt:lpstr>Theme</vt:lpstr>
      </vt:variant>
      <vt:variant>
        <vt:i4>2</vt:i4>
      </vt:variant>
      <vt:variant>
        <vt:lpstr>Slide Titles</vt:lpstr>
      </vt:variant>
      <vt:variant>
        <vt:i4>2</vt:i4>
      </vt:variant>
    </vt:vector>
  </HeadingPairs>
  <TitlesOfParts>
    <vt:vector size="4" baseType="lpstr">
      <vt:lpstr>AlignmentVTI</vt:lpstr>
      <vt:lpstr>office theme</vt:lpstr>
      <vt:lpstr>PowerPoint Presentation</vt:lpstr>
      <vt:lpstr>Outline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Sunitha EV</dc:creator>
  <cp:lastModifiedBy>veenag</cp:lastModifiedBy>
  <cp:revision>507</cp:revision>
  <dcterms:created xsi:type="dcterms:W3CDTF">2025-02-06T04:27:38Z</dcterms:created>
  <dcterms:modified xsi:type="dcterms:W3CDTF">2026-05-12T04:25:29Z</dcterms:modified>
</cp:coreProperties>
</file>